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2C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98480" y="0"/>
            <a:ext cx="1490472" cy="685800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80467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26A21"/>
                </a:solidFill>
                <a:latin typeface="Aptos"/>
              </a:rPr>
              <a:t>INSURANCE TECHNOLOGY • MICROSERVICES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8961120" cy="1143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4200" b="1" i="0">
                <a:solidFill>
                  <a:srgbClr val="FFFFFF"/>
                </a:solidFill>
                <a:latin typeface="Aptos"/>
              </a:rPr>
              <a:t>RISKTWIN NEXUS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606040"/>
            <a:ext cx="850392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0" i="0">
                <a:solidFill>
                  <a:srgbClr val="FFFFFF"/>
                </a:solidFill>
                <a:latin typeface="Aptos"/>
              </a:rPr>
              <a:t>A microservices-based insurance management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822191"/>
            <a:ext cx="7863840" cy="10058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D7E5EC"/>
                </a:solidFill>
                <a:latin typeface="Aptos"/>
              </a:rPr>
              <a:t>Architecture • Data design • UML • APIs • Security •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897880"/>
            <a:ext cx="7680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PROJECT PRESENTATION  | 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6309360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C5D5DE"/>
                </a:solidFill>
                <a:latin typeface="Aptos"/>
              </a:rPr>
              <a:t>Hartford-inspired navy, orange and white visual theme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1088136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003B5C"/>
                </a:solidFill>
                <a:latin typeface="Aptos"/>
              </a:rPr>
              <a:t>Abstract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58952"/>
            <a:ext cx="11201400" cy="22860"/>
          </a:xfrm>
          <a:prstGeom prst="rect">
            <a:avLst/>
          </a:prstGeom>
          <a:solidFill>
            <a:srgbClr val="D9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219456"/>
            <a:ext cx="2103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F26A21"/>
                </a:solidFill>
                <a:latin typeface="Aptos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5C6B73"/>
                </a:solidFill>
                <a:latin typeface="Aptos"/>
              </a:rPr>
              <a:t>RISKTWIN NEXUS  •  INSURANCE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C6B73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51560"/>
            <a:ext cx="6675120" cy="1508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0" i="0">
                <a:solidFill>
                  <a:srgbClr val="122B3A"/>
                </a:solidFill>
                <a:latin typeface="Aptos"/>
              </a:rPr>
              <a:t>RiskTwin Nexus brings core insurance workflows into a role-aware web platform. It separates identity, business profiles, underwriting policies, risk intelligence, claims/recovery, and notification/audit into independently deployable services.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097280"/>
            <a:ext cx="3657600" cy="114300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1097280"/>
            <a:ext cx="73152" cy="114300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1" y="1207007"/>
            <a:ext cx="340156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3B5C"/>
                </a:solidFill>
                <a:latin typeface="Aptos"/>
              </a:rPr>
              <a:t>Core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9831" y="1591056"/>
            <a:ext cx="33832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22B3A"/>
                </a:solidFill>
                <a:latin typeface="Aptos"/>
              </a:rPr>
              <a:t>A clear path from business onboarding to policy lifecycle and risk oversight.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63240"/>
            <a:ext cx="3429000" cy="141732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063240"/>
            <a:ext cx="73152" cy="1417320"/>
          </a:xfrm>
          <a:prstGeom prst="rect">
            <a:avLst/>
          </a:prstGeom>
          <a:solidFill>
            <a:srgbClr val="2C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172968"/>
            <a:ext cx="317296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3B5C"/>
                </a:solidFill>
                <a:latin typeface="Aptos"/>
              </a:rPr>
              <a:t>Domain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557016"/>
            <a:ext cx="3154680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22B3A"/>
                </a:solidFill>
                <a:latin typeface="Aptos"/>
              </a:rPr>
              <a:t>Business • Policy • Risk • Claims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063240"/>
            <a:ext cx="3429000" cy="141732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3063240"/>
            <a:ext cx="73152" cy="141732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7992" y="3172968"/>
            <a:ext cx="317296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3B5C"/>
                </a:solidFill>
                <a:latin typeface="Aptos"/>
              </a:rPr>
              <a:t>Control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3557016"/>
            <a:ext cx="3154680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22B3A"/>
                </a:solidFill>
                <a:latin typeface="Aptos"/>
              </a:rPr>
              <a:t>Gateway • Identity • JWT • RBAC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063240"/>
            <a:ext cx="3429000" cy="141732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3063240"/>
            <a:ext cx="73152" cy="1417320"/>
          </a:xfrm>
          <a:prstGeom prst="rect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2" y="3172968"/>
            <a:ext cx="317296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3B5C"/>
                </a:solidFill>
                <a:latin typeface="Aptos"/>
              </a:rPr>
              <a:t>Operational 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3557016"/>
            <a:ext cx="3154680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22B3A"/>
                </a:solidFill>
                <a:latin typeface="Aptos"/>
              </a:rPr>
              <a:t>Audit events • Risk mitigations • Admin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74920"/>
            <a:ext cx="1060704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B94A48"/>
                </a:solidFill>
                <a:latin typeface="Aptos"/>
              </a:rPr>
              <a:t>Boundary: payment is simulated; the project does not move real money or integrate a live payment gateway.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1088136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003B5C"/>
                </a:solidFill>
                <a:latin typeface="Aptos"/>
              </a:rPr>
              <a:t>Project Scope &amp; Main Capabilities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58952"/>
            <a:ext cx="11201400" cy="22860"/>
          </a:xfrm>
          <a:prstGeom prst="rect">
            <a:avLst/>
          </a:prstGeom>
          <a:solidFill>
            <a:srgbClr val="D9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219456"/>
            <a:ext cx="2103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F26A21"/>
                </a:solidFill>
                <a:latin typeface="Aptos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5C6B73"/>
                </a:solidFill>
                <a:latin typeface="Aptos"/>
              </a:rPr>
              <a:t>RISKTWIN NEXUS  •  INSURANCE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C6B73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3429000" cy="160020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73152" cy="1600200"/>
          </a:xfrm>
          <a:prstGeom prst="rect">
            <a:avLst/>
          </a:prstGeom>
          <a:solidFill>
            <a:srgbClr val="2C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252728"/>
            <a:ext cx="317296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3B5C"/>
                </a:solidFill>
                <a:latin typeface="Aptos"/>
              </a:rPr>
              <a:t>Business profiles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636776"/>
            <a:ext cx="3154680" cy="10515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22B3A"/>
                </a:solidFill>
                <a:latin typeface="Aptos"/>
              </a:rPr>
              <a:t>Business information and owner-scoped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143000"/>
            <a:ext cx="3429000" cy="160020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143000"/>
            <a:ext cx="73152" cy="160020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252728"/>
            <a:ext cx="317296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3B5C"/>
                </a:solidFill>
                <a:latin typeface="Aptos"/>
              </a:rPr>
              <a:t>Policy lifecycle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1636776"/>
            <a:ext cx="3154680" cy="10515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22B3A"/>
                </a:solidFill>
                <a:latin typeface="Aptos"/>
              </a:rPr>
              <a:t>Standard policies, tenure, payment frequency, submission/status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143000"/>
            <a:ext cx="3429000" cy="160020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143000"/>
            <a:ext cx="73152" cy="1600200"/>
          </a:xfrm>
          <a:prstGeom prst="rect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252728"/>
            <a:ext cx="317296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3B5C"/>
                </a:solidFill>
                <a:latin typeface="Aptos"/>
              </a:rPr>
              <a:t>Mock payments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1636776"/>
            <a:ext cx="3154680" cy="10515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22B3A"/>
                </a:solidFill>
                <a:latin typeface="Aptos"/>
              </a:rPr>
              <a:t>Record a simulated payment and transaction reference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200400"/>
            <a:ext cx="3429000" cy="160020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200400"/>
            <a:ext cx="73152" cy="1600200"/>
          </a:xfrm>
          <a:prstGeom prst="rect">
            <a:avLst/>
          </a:prstGeom>
          <a:solidFill>
            <a:srgbClr val="2C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" y="3310128"/>
            <a:ext cx="317296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3B5C"/>
                </a:solidFill>
                <a:latin typeface="Aptos"/>
              </a:rPr>
              <a:t>Risk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3694176"/>
            <a:ext cx="3154680" cy="10515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22B3A"/>
                </a:solidFill>
                <a:latin typeface="Aptos"/>
              </a:rPr>
              <a:t>Assessments, simulations and mitigation tracking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200400"/>
            <a:ext cx="3429000" cy="160020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3200400"/>
            <a:ext cx="73152" cy="160020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2" y="3310128"/>
            <a:ext cx="317296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3B5C"/>
                </a:solidFill>
                <a:latin typeface="Aptos"/>
              </a:rPr>
              <a:t>Claims &amp; recovery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2" y="3694176"/>
            <a:ext cx="3154680" cy="10515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22B3A"/>
                </a:solidFill>
                <a:latin typeface="Aptos"/>
              </a:rPr>
              <a:t>Claims/recovery module with role-scoped workflows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200400"/>
            <a:ext cx="3429000" cy="160020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3200400"/>
            <a:ext cx="73152" cy="1600200"/>
          </a:xfrm>
          <a:prstGeom prst="rect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94192" y="3310128"/>
            <a:ext cx="317296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3B5C"/>
                </a:solidFill>
                <a:latin typeface="Aptos"/>
              </a:rPr>
              <a:t>Admin ROI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694176"/>
            <a:ext cx="3154680" cy="10515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22B3A"/>
                </a:solidFill>
                <a:latin typeface="Aptos"/>
              </a:rPr>
              <a:t>Dashboard aggregation with metric-source caveats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623560"/>
            <a:ext cx="10789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1">
                <a:solidFill>
                  <a:srgbClr val="5C6B73"/>
                </a:solidFill>
                <a:latin typeface="Aptos"/>
              </a:rPr>
              <a:t>Presentation reflects the supplied API catalogue and UML/workflow document; routes marked for verification are not presented as confirmed.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1088136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003B5C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58952"/>
            <a:ext cx="11201400" cy="22860"/>
          </a:xfrm>
          <a:prstGeom prst="rect">
            <a:avLst/>
          </a:prstGeom>
          <a:solidFill>
            <a:srgbClr val="D9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219456"/>
            <a:ext cx="2103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F26A21"/>
                </a:solidFill>
                <a:latin typeface="Aptos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5C6B73"/>
                </a:solidFill>
                <a:latin typeface="Aptos"/>
              </a:rPr>
              <a:t>RISKTWIN NEXUS  •  INSURANCE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C6B73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40280"/>
            <a:ext cx="1508760" cy="777240"/>
          </a:xfrm>
          <a:prstGeom prst="roundRect">
            <a:avLst/>
          </a:prstGeom>
          <a:solidFill>
            <a:srgbClr val="E6F1E8"/>
          </a:solidFill>
          <a:ln>
            <a:solidFill>
              <a:srgbClr val="2E7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>
                <a:solidFill>
                  <a:srgbClr val="003B5C"/>
                </a:solidFill>
                <a:latin typeface="Aptos"/>
              </a:rPr>
              <a:t>Angular
Frontend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2240280"/>
            <a:ext cx="1600200" cy="777240"/>
          </a:xfrm>
          <a:prstGeom prst="roundRect">
            <a:avLst/>
          </a:prstGeom>
          <a:solidFill>
            <a:srgbClr val="FFF0E6"/>
          </a:solidFill>
          <a:ln>
            <a:solidFill>
              <a:srgbClr val="F26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>
                <a:solidFill>
                  <a:srgbClr val="003B5C"/>
                </a:solidFill>
                <a:latin typeface="Aptos"/>
              </a:rPr>
              <a:t>API Gateway
:8080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11680" y="2633472"/>
            <a:ext cx="594360" cy="0"/>
          </a:xfrm>
          <a:prstGeom prst="line">
            <a:avLst/>
          </a:prstGeom>
          <a:ln w="22860">
            <a:solidFill>
              <a:srgbClr val="2C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754880" y="1143000"/>
            <a:ext cx="1600200" cy="749808"/>
          </a:xfrm>
          <a:prstGeom prst="roundRect">
            <a:avLst/>
          </a:prstGeom>
          <a:solidFill>
            <a:srgbClr val="F2F6F8"/>
          </a:solidFill>
          <a:ln>
            <a:solidFill>
              <a:srgbClr val="2C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003B5C"/>
                </a:solidFill>
                <a:latin typeface="Aptos"/>
              </a:rPr>
              <a:t>Identity
:8081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206240" y="1517904"/>
            <a:ext cx="548640" cy="1097280"/>
          </a:xfrm>
          <a:prstGeom prst="line">
            <a:avLst/>
          </a:prstGeom>
          <a:ln w="15240">
            <a:solidFill>
              <a:srgbClr val="2C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720840" y="1143000"/>
            <a:ext cx="1600200" cy="749808"/>
          </a:xfrm>
          <a:prstGeom prst="roundRect">
            <a:avLst/>
          </a:prstGeom>
          <a:solidFill>
            <a:srgbClr val="F2F6F8"/>
          </a:solidFill>
          <a:ln>
            <a:solidFill>
              <a:srgbClr val="2C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003B5C"/>
                </a:solidFill>
                <a:latin typeface="Aptos"/>
              </a:rPr>
              <a:t>Business
:8082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206240" y="1517904"/>
            <a:ext cx="2514600" cy="1097280"/>
          </a:xfrm>
          <a:prstGeom prst="line">
            <a:avLst/>
          </a:prstGeom>
          <a:ln w="15240">
            <a:solidFill>
              <a:srgbClr val="2C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686800" y="1143000"/>
            <a:ext cx="1600200" cy="749808"/>
          </a:xfrm>
          <a:prstGeom prst="roundRect">
            <a:avLst/>
          </a:prstGeom>
          <a:solidFill>
            <a:srgbClr val="F2F6F8"/>
          </a:solidFill>
          <a:ln>
            <a:solidFill>
              <a:srgbClr val="2C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003B5C"/>
                </a:solidFill>
                <a:latin typeface="Aptos"/>
              </a:rPr>
              <a:t>Underwriting Policy
:8083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4206240" y="1517904"/>
            <a:ext cx="4480560" cy="1097280"/>
          </a:xfrm>
          <a:prstGeom prst="line">
            <a:avLst/>
          </a:prstGeom>
          <a:ln w="15240">
            <a:solidFill>
              <a:srgbClr val="2C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754880" y="2971800"/>
            <a:ext cx="1600200" cy="749808"/>
          </a:xfrm>
          <a:prstGeom prst="roundRect">
            <a:avLst/>
          </a:prstGeom>
          <a:solidFill>
            <a:srgbClr val="F2F6F8"/>
          </a:solidFill>
          <a:ln>
            <a:solidFill>
              <a:srgbClr val="2C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003B5C"/>
                </a:solidFill>
                <a:latin typeface="Aptos"/>
              </a:rPr>
              <a:t>Risk Intelligence
:8084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06240" y="2615184"/>
            <a:ext cx="548640" cy="731520"/>
          </a:xfrm>
          <a:prstGeom prst="line">
            <a:avLst/>
          </a:prstGeom>
          <a:ln w="15240">
            <a:solidFill>
              <a:srgbClr val="2C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720840" y="2971800"/>
            <a:ext cx="1600200" cy="749808"/>
          </a:xfrm>
          <a:prstGeom prst="roundRect">
            <a:avLst/>
          </a:prstGeom>
          <a:solidFill>
            <a:srgbClr val="F2F6F8"/>
          </a:solidFill>
          <a:ln>
            <a:solidFill>
              <a:srgbClr val="2C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003B5C"/>
                </a:solidFill>
                <a:latin typeface="Aptos"/>
              </a:rPr>
              <a:t>Claims Recovery
:8085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06240" y="2615184"/>
            <a:ext cx="2514600" cy="731520"/>
          </a:xfrm>
          <a:prstGeom prst="line">
            <a:avLst/>
          </a:prstGeom>
          <a:ln w="15240">
            <a:solidFill>
              <a:srgbClr val="2C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686800" y="2971800"/>
            <a:ext cx="1600200" cy="749808"/>
          </a:xfrm>
          <a:prstGeom prst="roundRect">
            <a:avLst/>
          </a:prstGeom>
          <a:solidFill>
            <a:srgbClr val="F2F6F8"/>
          </a:solidFill>
          <a:ln>
            <a:solidFill>
              <a:srgbClr val="2C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003B5C"/>
                </a:solidFill>
                <a:latin typeface="Aptos"/>
              </a:rPr>
              <a:t>Notification &amp; Audit
:8086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206240" y="2615184"/>
            <a:ext cx="4480560" cy="731520"/>
          </a:xfrm>
          <a:prstGeom prst="line">
            <a:avLst/>
          </a:prstGeom>
          <a:ln w="15240">
            <a:solidFill>
              <a:srgbClr val="2C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303520" y="4800600"/>
            <a:ext cx="1920240" cy="640080"/>
          </a:xfrm>
          <a:prstGeom prst="roundRect">
            <a:avLst/>
          </a:prstGeom>
          <a:solidFill>
            <a:srgbClr val="F4F6F8"/>
          </a:solidFill>
          <a:ln>
            <a:solidFill>
              <a:srgbClr val="5C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003B5C"/>
                </a:solidFill>
                <a:latin typeface="Aptos"/>
              </a:rPr>
              <a:t>Eureka Discovery
:8761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4754880"/>
            <a:ext cx="3749039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C6B73"/>
                </a:solidFill>
                <a:latin typeface="Aptos"/>
              </a:rPr>
              <a:t>Service registration/discovery
Database ownership is per service;
exact route predicates are configuration-specific.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852160"/>
            <a:ext cx="106070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3B5C"/>
                </a:solidFill>
                <a:latin typeface="Aptos"/>
              </a:rPr>
              <a:t>Client requests enter through the Gateway. Domain workflows call the combined Notification &amp; Audit service where integration is wired.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1088136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003B5C"/>
                </a:solidFill>
                <a:latin typeface="Aptos"/>
              </a:rPr>
              <a:t>Microservices &amp; Responsibilities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58952"/>
            <a:ext cx="11201400" cy="22860"/>
          </a:xfrm>
          <a:prstGeom prst="rect">
            <a:avLst/>
          </a:prstGeom>
          <a:solidFill>
            <a:srgbClr val="D9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219456"/>
            <a:ext cx="2103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F26A21"/>
                </a:solidFill>
                <a:latin typeface="Aptos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5C6B73"/>
                </a:solidFill>
                <a:latin typeface="Aptos"/>
              </a:rPr>
              <a:t>RISKTWIN NEXUS  •  INSURANCE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C6B73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97280"/>
            <a:ext cx="5166360" cy="114300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097280"/>
            <a:ext cx="73152" cy="1143000"/>
          </a:xfrm>
          <a:prstGeom prst="rect">
            <a:avLst/>
          </a:prstGeom>
          <a:solidFill>
            <a:srgbClr val="2C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207007"/>
            <a:ext cx="491032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3B5C"/>
                </a:solidFill>
                <a:latin typeface="Aptos"/>
              </a:rPr>
              <a:t>Identity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591056"/>
            <a:ext cx="489204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22B3A"/>
                </a:solidFill>
                <a:latin typeface="Aptos"/>
              </a:rPr>
              <a:t>Authentication, user identity and role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207007"/>
            <a:ext cx="658368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5C6B73"/>
                </a:solidFill>
                <a:latin typeface="Aptos"/>
              </a:rPr>
              <a:t>8081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097280"/>
            <a:ext cx="5166360" cy="114300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097280"/>
            <a:ext cx="73152" cy="114300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207007"/>
            <a:ext cx="491032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3B5C"/>
                </a:solidFill>
                <a:latin typeface="Aptos"/>
              </a:rPr>
              <a:t>Business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1591056"/>
            <a:ext cx="489204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22B3A"/>
                </a:solidFill>
                <a:latin typeface="Aptos"/>
              </a:rPr>
              <a:t>Business profile data and ownership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1207007"/>
            <a:ext cx="658368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5C6B73"/>
                </a:solidFill>
                <a:latin typeface="Aptos"/>
              </a:rPr>
              <a:t>8082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606039"/>
            <a:ext cx="5166360" cy="114300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606039"/>
            <a:ext cx="73152" cy="1143000"/>
          </a:xfrm>
          <a:prstGeom prst="rect">
            <a:avLst/>
          </a:prstGeom>
          <a:solidFill>
            <a:srgbClr val="2C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2715768"/>
            <a:ext cx="491032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3B5C"/>
                </a:solidFill>
                <a:latin typeface="Aptos"/>
              </a:rPr>
              <a:t>Underwriting Policy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3099815"/>
            <a:ext cx="489204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22B3A"/>
                </a:solidFill>
                <a:latin typeface="Aptos"/>
              </a:rPr>
              <a:t>Policy catalogue, lifecycle, tenure and payment frequency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2715768"/>
            <a:ext cx="658368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5C6B73"/>
                </a:solidFill>
                <a:latin typeface="Aptos"/>
              </a:rPr>
              <a:t>8083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2606039"/>
            <a:ext cx="5166360" cy="114300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2606039"/>
            <a:ext cx="73152" cy="114300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2" y="2715768"/>
            <a:ext cx="491032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3B5C"/>
                </a:solidFill>
                <a:latin typeface="Aptos"/>
              </a:rPr>
              <a:t>Risk Intelligence 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3099815"/>
            <a:ext cx="489204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22B3A"/>
                </a:solidFill>
                <a:latin typeface="Aptos"/>
              </a:rPr>
              <a:t>Risk assessments, simulations and mitigations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2715768"/>
            <a:ext cx="658368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5C6B73"/>
                </a:solidFill>
                <a:latin typeface="Aptos"/>
              </a:rPr>
              <a:t>8084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114800"/>
            <a:ext cx="5166360" cy="114300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4114800"/>
            <a:ext cx="73152" cy="1143000"/>
          </a:xfrm>
          <a:prstGeom prst="rect">
            <a:avLst/>
          </a:prstGeom>
          <a:solidFill>
            <a:srgbClr val="2C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1" y="4224528"/>
            <a:ext cx="491032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3B5C"/>
                </a:solidFill>
                <a:latin typeface="Aptos"/>
              </a:rPr>
              <a:t>Claims Recovery 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4608576"/>
            <a:ext cx="489204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22B3A"/>
                </a:solidFill>
                <a:latin typeface="Aptos"/>
              </a:rPr>
              <a:t>Claims and recovery workflows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4224528"/>
            <a:ext cx="658368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5C6B73"/>
                </a:solidFill>
                <a:latin typeface="Aptos"/>
              </a:rPr>
              <a:t>8085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114800"/>
            <a:ext cx="5166360" cy="114300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4114800"/>
            <a:ext cx="73152" cy="114300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28232" y="4224528"/>
            <a:ext cx="491032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3B5C"/>
                </a:solidFill>
                <a:latin typeface="Aptos"/>
              </a:rPr>
              <a:t>Notification &amp; Audit Service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8232" y="4608576"/>
            <a:ext cx="489204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22B3A"/>
                </a:solidFill>
                <a:latin typeface="Aptos"/>
              </a:rPr>
              <a:t>Combined notification/audit event handling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4224528"/>
            <a:ext cx="658368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5C6B73"/>
                </a:solidFill>
                <a:latin typeface="Aptos"/>
              </a:rPr>
              <a:t>8086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03B5C"/>
                </a:solidFill>
                <a:latin typeface="Aptos"/>
              </a:rPr>
              <a:t>Platform components: Reactive API Gateway on :8080 and Eureka Discovery on :8761.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1088136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003B5C"/>
                </a:solidFill>
                <a:latin typeface="Aptos"/>
              </a:rPr>
              <a:t>ER Diagram &amp; Database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58952"/>
            <a:ext cx="11201400" cy="22860"/>
          </a:xfrm>
          <a:prstGeom prst="rect">
            <a:avLst/>
          </a:prstGeom>
          <a:solidFill>
            <a:srgbClr val="D9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219456"/>
            <a:ext cx="2103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F26A21"/>
                </a:solidFill>
                <a:latin typeface="Aptos"/>
              </a:rP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5C6B73"/>
                </a:solidFill>
                <a:latin typeface="Aptos"/>
              </a:rPr>
              <a:t>RISKTWIN NEXUS  •  INSURANCE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C6B73"/>
                </a:solidFill>
                <a:latin typeface="Aptos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914400"/>
            <a:ext cx="10972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5C6B73"/>
                </a:solidFill>
                <a:latin typeface="Aptos"/>
              </a:rPr>
              <a:t>Logical relationships across service boundaries (not a single shared database schema)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645920" cy="685800"/>
          </a:xfrm>
          <a:prstGeom prst="roundRect">
            <a:avLst/>
          </a:prstGeom>
          <a:solidFill>
            <a:srgbClr val="E8F1F7"/>
          </a:solidFill>
          <a:ln>
            <a:solidFill>
              <a:srgbClr val="2C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>
                <a:solidFill>
                  <a:srgbClr val="003B5C"/>
                </a:solidFill>
                <a:latin typeface="Aptos"/>
              </a:rPr>
              <a:t>USER / ROLE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417320"/>
            <a:ext cx="1645920" cy="685800"/>
          </a:xfrm>
          <a:prstGeom prst="roundRect">
            <a:avLst/>
          </a:prstGeom>
          <a:solidFill>
            <a:srgbClr val="E8F1F7"/>
          </a:solidFill>
          <a:ln>
            <a:solidFill>
              <a:srgbClr val="2C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>
                <a:solidFill>
                  <a:srgbClr val="003B5C"/>
                </a:solidFill>
                <a:latin typeface="Aptos"/>
              </a:rPr>
              <a:t>BUSINESS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1417320"/>
            <a:ext cx="1645920" cy="685800"/>
          </a:xfrm>
          <a:prstGeom prst="roundRect">
            <a:avLst/>
          </a:prstGeom>
          <a:solidFill>
            <a:srgbClr val="FFF0E6"/>
          </a:solidFill>
          <a:ln>
            <a:solidFill>
              <a:srgbClr val="2C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>
                <a:solidFill>
                  <a:srgbClr val="003B5C"/>
                </a:solidFill>
                <a:latin typeface="Aptos"/>
              </a:rPr>
              <a:t>POLICY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417320"/>
            <a:ext cx="1645920" cy="685800"/>
          </a:xfrm>
          <a:prstGeom prst="roundRect">
            <a:avLst/>
          </a:prstGeom>
          <a:solidFill>
            <a:srgbClr val="FFF0E6"/>
          </a:solidFill>
          <a:ln>
            <a:solidFill>
              <a:srgbClr val="2C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>
                <a:solidFill>
                  <a:srgbClr val="003B5C"/>
                </a:solidFill>
                <a:latin typeface="Aptos"/>
              </a:rPr>
              <a:t>PAYMENT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1417320"/>
            <a:ext cx="1645920" cy="685800"/>
          </a:xfrm>
          <a:prstGeom prst="roundRect">
            <a:avLst/>
          </a:prstGeom>
          <a:solidFill>
            <a:srgbClr val="E8F1F7"/>
          </a:solidFill>
          <a:ln>
            <a:solidFill>
              <a:srgbClr val="2C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>
                <a:solidFill>
                  <a:srgbClr val="003B5C"/>
                </a:solidFill>
                <a:latin typeface="Aptos"/>
              </a:rPr>
              <a:t>CLAIM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3703320"/>
            <a:ext cx="1645920" cy="685800"/>
          </a:xfrm>
          <a:prstGeom prst="roundRect">
            <a:avLst/>
          </a:prstGeom>
          <a:solidFill>
            <a:srgbClr val="E6F1E8"/>
          </a:solidFill>
          <a:ln>
            <a:solidFill>
              <a:srgbClr val="2C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>
                <a:solidFill>
                  <a:srgbClr val="003B5C"/>
                </a:solidFill>
                <a:latin typeface="Aptos"/>
              </a:rPr>
              <a:t>RISK ASSESSMENT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3703320"/>
            <a:ext cx="1645920" cy="685800"/>
          </a:xfrm>
          <a:prstGeom prst="roundRect">
            <a:avLst/>
          </a:prstGeom>
          <a:solidFill>
            <a:srgbClr val="E6F1E8"/>
          </a:solidFill>
          <a:ln>
            <a:solidFill>
              <a:srgbClr val="2C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>
                <a:solidFill>
                  <a:srgbClr val="003B5C"/>
                </a:solidFill>
                <a:latin typeface="Aptos"/>
              </a:rPr>
              <a:t>MITIGATION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3703320"/>
            <a:ext cx="2240280" cy="685800"/>
          </a:xfrm>
          <a:prstGeom prst="roundRect">
            <a:avLst/>
          </a:prstGeom>
          <a:solidFill>
            <a:srgbClr val="F3EDF8"/>
          </a:solidFill>
          <a:ln>
            <a:solidFill>
              <a:srgbClr val="2C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>
                <a:solidFill>
                  <a:srgbClr val="003B5C"/>
                </a:solidFill>
                <a:latin typeface="Aptos"/>
              </a:rPr>
              <a:t>NOTIFICATION / AUDIT EVENT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4560" y="1755648"/>
            <a:ext cx="548640" cy="0"/>
          </a:xfrm>
          <a:prstGeom prst="line">
            <a:avLst/>
          </a:prstGeom>
          <a:ln w="22860">
            <a:solidFill>
              <a:srgbClr val="2C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389120" y="1755648"/>
            <a:ext cx="594360" cy="0"/>
          </a:xfrm>
          <a:prstGeom prst="line">
            <a:avLst/>
          </a:prstGeom>
          <a:ln w="22860">
            <a:solidFill>
              <a:srgbClr val="2C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629400" y="1755648"/>
            <a:ext cx="685800" cy="0"/>
          </a:xfrm>
          <a:prstGeom prst="line">
            <a:avLst/>
          </a:prstGeom>
          <a:ln w="22860">
            <a:solidFill>
              <a:srgbClr val="2C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629400" y="1938528"/>
            <a:ext cx="2971800" cy="0"/>
          </a:xfrm>
          <a:prstGeom prst="line">
            <a:avLst/>
          </a:prstGeom>
          <a:ln w="15240">
            <a:solidFill>
              <a:srgbClr val="5C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66160" y="2103120"/>
            <a:ext cx="0" cy="1600200"/>
          </a:xfrm>
          <a:prstGeom prst="line">
            <a:avLst/>
          </a:prstGeom>
          <a:ln w="22860">
            <a:solidFill>
              <a:srgbClr val="2C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389120" y="4041648"/>
            <a:ext cx="594360" cy="0"/>
          </a:xfrm>
          <a:prstGeom prst="line">
            <a:avLst/>
          </a:prstGeom>
          <a:ln w="22860">
            <a:solidFill>
              <a:srgbClr val="2C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806440" y="2103120"/>
            <a:ext cx="0" cy="1600200"/>
          </a:xfrm>
          <a:prstGeom prst="line">
            <a:avLst/>
          </a:prstGeom>
          <a:ln w="22860">
            <a:solidFill>
              <a:srgbClr val="2E7D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629400" y="4041648"/>
            <a:ext cx="1051560" cy="0"/>
          </a:xfrm>
          <a:prstGeom prst="line">
            <a:avLst/>
          </a:prstGeom>
          <a:ln w="22860">
            <a:solidFill>
              <a:srgbClr val="2E7D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5800" y="4983480"/>
            <a:ext cx="1069848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22B3A"/>
                </a:solidFill>
                <a:latin typeface="Aptos"/>
              </a:rPr>
              <a:t>Key design principles: service-owned persistence; stable IDs link records across APIs; ownership is checked server-side. Payment records store a transaction reference. Risk mitigation references an assessment. Audit events record actor/action/time and relevant entity context.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897880"/>
            <a:ext cx="105156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1">
                <a:solidFill>
                  <a:srgbClr val="5C6B73"/>
                </a:solidFill>
                <a:latin typeface="Aptos"/>
              </a:rPr>
              <a:t>Conceptual ER view derived from the project data/API documents; confirm exact physical columns and foreign keys against entity classes.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1088136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003B5C"/>
                </a:solidFill>
                <a:latin typeface="Aptos"/>
              </a:rPr>
              <a:t>UML Use Case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58952"/>
            <a:ext cx="11201400" cy="22860"/>
          </a:xfrm>
          <a:prstGeom prst="rect">
            <a:avLst/>
          </a:prstGeom>
          <a:solidFill>
            <a:srgbClr val="D9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219456"/>
            <a:ext cx="2103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F26A21"/>
                </a:solidFill>
                <a:latin typeface="Aptos"/>
              </a:rPr>
              <a:t>UML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5C6B73"/>
                </a:solidFill>
                <a:latin typeface="Aptos"/>
              </a:rPr>
              <a:t>RISKTWIN NEXUS  •  INSURANCE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C6B73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1828800" cy="640080"/>
          </a:xfrm>
          <a:prstGeom prst="roundRect">
            <a:avLst/>
          </a:prstGeom>
          <a:solidFill>
            <a:srgbClr val="E6F1E8"/>
          </a:solidFill>
          <a:ln>
            <a:solidFill>
              <a:srgbClr val="2E7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003B5C"/>
                </a:solidFill>
                <a:latin typeface="Aptos"/>
              </a:rPr>
              <a:t>Business Owner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1828800" cy="640080"/>
          </a:xfrm>
          <a:prstGeom prst="roundRect">
            <a:avLst/>
          </a:prstGeom>
          <a:solidFill>
            <a:srgbClr val="FFF0E6"/>
          </a:solidFill>
          <a:ln>
            <a:solidFill>
              <a:srgbClr val="F26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003B5C"/>
                </a:solidFill>
                <a:latin typeface="Aptos"/>
              </a:rPr>
              <a:t>Underwriter / Admin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29800" y="1463040"/>
            <a:ext cx="1737360" cy="640080"/>
          </a:xfrm>
          <a:prstGeom prst="roundRect">
            <a:avLst/>
          </a:prstGeom>
          <a:solidFill>
            <a:srgbClr val="E8F1F7"/>
          </a:solidFill>
          <a:ln>
            <a:solidFill>
              <a:srgbClr val="2C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003B5C"/>
                </a:solidFill>
                <a:latin typeface="Aptos"/>
              </a:rPr>
              <a:t>Risk Engineer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29800" y="2743200"/>
            <a:ext cx="1737360" cy="640080"/>
          </a:xfrm>
          <a:prstGeom prst="roundRect">
            <a:avLst/>
          </a:prstGeom>
          <a:solidFill>
            <a:srgbClr val="E8F1F7"/>
          </a:solidFill>
          <a:ln>
            <a:solidFill>
              <a:srgbClr val="2C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003B5C"/>
                </a:solidFill>
                <a:latin typeface="Aptos"/>
              </a:rPr>
              <a:t>Claims Adjuster</a:t>
            </a:r>
          </a:p>
        </p:txBody>
      </p:sp>
      <p:sp>
        <p:nvSpPr>
          <p:cNvPr id="12" name="Oval 11"/>
          <p:cNvSpPr/>
          <p:nvPr/>
        </p:nvSpPr>
        <p:spPr>
          <a:xfrm>
            <a:off x="3246120" y="1234440"/>
            <a:ext cx="1828800" cy="658368"/>
          </a:xfrm>
          <a:prstGeom prst="ellipse">
            <a:avLst/>
          </a:prstGeom>
          <a:solidFill>
            <a:srgbClr val="F2F6F8"/>
          </a:solidFill>
          <a:ln>
            <a:solidFill>
              <a:srgbClr val="2C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3B5C"/>
                </a:solidFill>
                <a:latin typeface="Aptos"/>
              </a:rPr>
              <a:t>Manage business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0" y="1234440"/>
            <a:ext cx="1828800" cy="658368"/>
          </a:xfrm>
          <a:prstGeom prst="ellipse">
            <a:avLst/>
          </a:prstGeom>
          <a:solidFill>
            <a:srgbClr val="F2F6F8"/>
          </a:solidFill>
          <a:ln>
            <a:solidFill>
              <a:srgbClr val="2C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3B5C"/>
                </a:solidFill>
                <a:latin typeface="Aptos"/>
              </a:rPr>
              <a:t>Create / submit policy</a:t>
            </a:r>
          </a:p>
        </p:txBody>
      </p:sp>
      <p:sp>
        <p:nvSpPr>
          <p:cNvPr id="14" name="Oval 13"/>
          <p:cNvSpPr/>
          <p:nvPr/>
        </p:nvSpPr>
        <p:spPr>
          <a:xfrm>
            <a:off x="3246120" y="2423160"/>
            <a:ext cx="1828800" cy="658368"/>
          </a:xfrm>
          <a:prstGeom prst="ellipse">
            <a:avLst/>
          </a:prstGeom>
          <a:solidFill>
            <a:srgbClr val="F2F6F8"/>
          </a:solidFill>
          <a:ln>
            <a:solidFill>
              <a:srgbClr val="2C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3B5C"/>
                </a:solidFill>
                <a:latin typeface="Aptos"/>
              </a:rPr>
              <a:t>Make mock payment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0" y="2423160"/>
            <a:ext cx="1828800" cy="658368"/>
          </a:xfrm>
          <a:prstGeom prst="ellipse">
            <a:avLst/>
          </a:prstGeom>
          <a:solidFill>
            <a:srgbClr val="F2F6F8"/>
          </a:solidFill>
          <a:ln>
            <a:solidFill>
              <a:srgbClr val="2C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3B5C"/>
                </a:solidFill>
                <a:latin typeface="Aptos"/>
              </a:rPr>
              <a:t>Review policy status</a:t>
            </a:r>
          </a:p>
        </p:txBody>
      </p:sp>
      <p:sp>
        <p:nvSpPr>
          <p:cNvPr id="16" name="Oval 15"/>
          <p:cNvSpPr/>
          <p:nvPr/>
        </p:nvSpPr>
        <p:spPr>
          <a:xfrm>
            <a:off x="3246120" y="3657600"/>
            <a:ext cx="1828800" cy="658368"/>
          </a:xfrm>
          <a:prstGeom prst="ellipse">
            <a:avLst/>
          </a:prstGeom>
          <a:solidFill>
            <a:srgbClr val="F2F6F8"/>
          </a:solidFill>
          <a:ln>
            <a:solidFill>
              <a:srgbClr val="2C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3B5C"/>
                </a:solidFill>
                <a:latin typeface="Aptos"/>
              </a:rPr>
              <a:t>Assess risk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0" y="3657600"/>
            <a:ext cx="1828800" cy="658368"/>
          </a:xfrm>
          <a:prstGeom prst="ellipse">
            <a:avLst/>
          </a:prstGeom>
          <a:solidFill>
            <a:srgbClr val="F2F6F8"/>
          </a:solidFill>
          <a:ln>
            <a:solidFill>
              <a:srgbClr val="2C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3B5C"/>
                </a:solidFill>
                <a:latin typeface="Aptos"/>
              </a:rPr>
              <a:t>Track mitigation</a:t>
            </a:r>
          </a:p>
        </p:txBody>
      </p:sp>
      <p:sp>
        <p:nvSpPr>
          <p:cNvPr id="18" name="Oval 17"/>
          <p:cNvSpPr/>
          <p:nvPr/>
        </p:nvSpPr>
        <p:spPr>
          <a:xfrm>
            <a:off x="7818120" y="2423160"/>
            <a:ext cx="1828800" cy="658368"/>
          </a:xfrm>
          <a:prstGeom prst="ellipse">
            <a:avLst/>
          </a:prstGeom>
          <a:solidFill>
            <a:srgbClr val="F2F6F8"/>
          </a:solidFill>
          <a:ln>
            <a:solidFill>
              <a:srgbClr val="2C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3B5C"/>
                </a:solidFill>
                <a:latin typeface="Aptos"/>
              </a:rPr>
              <a:t>View admin ROI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2377440" y="1554480"/>
            <a:ext cx="868680" cy="228600"/>
          </a:xfrm>
          <a:prstGeom prst="line">
            <a:avLst/>
          </a:prstGeom>
          <a:ln w="12700">
            <a:solidFill>
              <a:srgbClr val="5C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377440" y="1554480"/>
            <a:ext cx="3291840" cy="228600"/>
          </a:xfrm>
          <a:prstGeom prst="line">
            <a:avLst/>
          </a:prstGeom>
          <a:ln w="12700">
            <a:solidFill>
              <a:srgbClr val="5C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377440" y="1783080"/>
            <a:ext cx="868680" cy="960120"/>
          </a:xfrm>
          <a:prstGeom prst="line">
            <a:avLst/>
          </a:prstGeom>
          <a:ln w="12700">
            <a:solidFill>
              <a:srgbClr val="5C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377440" y="2743200"/>
            <a:ext cx="3291840" cy="320040"/>
          </a:xfrm>
          <a:prstGeom prst="line">
            <a:avLst/>
          </a:prstGeom>
          <a:ln w="12700">
            <a:solidFill>
              <a:srgbClr val="5C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498079" y="1783080"/>
            <a:ext cx="2331721" cy="2194559"/>
          </a:xfrm>
          <a:prstGeom prst="line">
            <a:avLst/>
          </a:prstGeom>
          <a:ln w="12700">
            <a:solidFill>
              <a:srgbClr val="5C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7498079" y="3063240"/>
            <a:ext cx="2331721" cy="914399"/>
          </a:xfrm>
          <a:prstGeom prst="line">
            <a:avLst/>
          </a:prstGeom>
          <a:ln w="12700">
            <a:solidFill>
              <a:srgbClr val="5C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377440" y="2743200"/>
            <a:ext cx="5440680" cy="320040"/>
          </a:xfrm>
          <a:prstGeom prst="line">
            <a:avLst/>
          </a:prstGeom>
          <a:ln w="12700">
            <a:solidFill>
              <a:srgbClr val="5C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31520" y="5029200"/>
            <a:ext cx="1060704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C6B73"/>
                </a:solidFill>
                <a:latin typeface="Aptos"/>
              </a:rPr>
              <a:t>Actors see only the use cases allowed by their role and ownership scope. The diagram summarizes primary project workflows rather than every screen or endpoint.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1088136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003B5C"/>
                </a:solidFill>
                <a:latin typeface="Aptos"/>
              </a:rPr>
              <a:t>UML Class Diagram — Core Domain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58952"/>
            <a:ext cx="11201400" cy="22860"/>
          </a:xfrm>
          <a:prstGeom prst="rect">
            <a:avLst/>
          </a:prstGeom>
          <a:solidFill>
            <a:srgbClr val="D9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219456"/>
            <a:ext cx="2103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F26A21"/>
                </a:solidFill>
                <a:latin typeface="Aptos"/>
              </a:rPr>
              <a:t>UML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5C6B73"/>
                </a:solidFill>
                <a:latin typeface="Aptos"/>
              </a:rPr>
              <a:t>RISKTWIN NEXUS  •  INSURANCE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C6B73"/>
                </a:solidFill>
                <a:latin typeface="Aptos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2148840" cy="1691640"/>
          </a:xfrm>
          <a:prstGeom prst="rect">
            <a:avLst/>
          </a:prstGeom>
          <a:solidFill>
            <a:srgbClr val="F2F6F8"/>
          </a:solidFill>
          <a:ln>
            <a:solidFill>
              <a:srgbClr val="2C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2148840" cy="365760"/>
          </a:xfrm>
          <a:prstGeom prst="rect">
            <a:avLst/>
          </a:prstGeom>
          <a:solidFill>
            <a:srgbClr val="003B5C"/>
          </a:solidFill>
          <a:ln>
            <a:solidFill>
              <a:srgbClr val="00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62456"/>
            <a:ext cx="2057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Business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764792"/>
            <a:ext cx="1938528" cy="1188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22B3A"/>
                </a:solidFill>
                <a:latin typeface="Aptos"/>
              </a:rPr>
              <a:t>id: Long
ownerId: Long
businessName: String
industry: String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1325880"/>
            <a:ext cx="2148840" cy="1691640"/>
          </a:xfrm>
          <a:prstGeom prst="rect">
            <a:avLst/>
          </a:prstGeom>
          <a:solidFill>
            <a:srgbClr val="F2F6F8"/>
          </a:solidFill>
          <a:ln>
            <a:solidFill>
              <a:srgbClr val="2C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0360" y="1325880"/>
            <a:ext cx="2148840" cy="365760"/>
          </a:xfrm>
          <a:prstGeom prst="rect">
            <a:avLst/>
          </a:prstGeom>
          <a:solidFill>
            <a:srgbClr val="003B5C"/>
          </a:solidFill>
          <a:ln>
            <a:solidFill>
              <a:srgbClr val="00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79" y="1362456"/>
            <a:ext cx="2057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1764792"/>
            <a:ext cx="1938528" cy="1188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22B3A"/>
                </a:solidFill>
                <a:latin typeface="Aptos"/>
              </a:rPr>
              <a:t>id: Long
policyNumber: String
businessId: Long
status: PolicyStatus
tenureValue / tenureUnit
paymentFrequency / endDate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1325880"/>
            <a:ext cx="2148840" cy="1691640"/>
          </a:xfrm>
          <a:prstGeom prst="rect">
            <a:avLst/>
          </a:prstGeom>
          <a:solidFill>
            <a:srgbClr val="F2F6F8"/>
          </a:solidFill>
          <a:ln>
            <a:solidFill>
              <a:srgbClr val="2C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1325880"/>
            <a:ext cx="2148840" cy="365760"/>
          </a:xfrm>
          <a:prstGeom prst="rect">
            <a:avLst/>
          </a:prstGeom>
          <a:solidFill>
            <a:srgbClr val="003B5C"/>
          </a:solidFill>
          <a:ln>
            <a:solidFill>
              <a:srgbClr val="00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32120" y="1362456"/>
            <a:ext cx="2057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PaymentRecord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96128" y="1764792"/>
            <a:ext cx="1938528" cy="1188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22B3A"/>
                </a:solidFill>
                <a:latin typeface="Aptos"/>
              </a:rPr>
              <a:t>id: Long
policyId: Long
transactionReference: String
amount / status / createdAt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3749039"/>
            <a:ext cx="2148840" cy="1691640"/>
          </a:xfrm>
          <a:prstGeom prst="rect">
            <a:avLst/>
          </a:prstGeom>
          <a:solidFill>
            <a:srgbClr val="F2F6F8"/>
          </a:solidFill>
          <a:ln>
            <a:solidFill>
              <a:srgbClr val="2C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28800" y="3749039"/>
            <a:ext cx="2148840" cy="365760"/>
          </a:xfrm>
          <a:prstGeom prst="rect">
            <a:avLst/>
          </a:prstGeom>
          <a:solidFill>
            <a:srgbClr val="003B5C"/>
          </a:solidFill>
          <a:ln>
            <a:solidFill>
              <a:srgbClr val="00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74519" y="3785615"/>
            <a:ext cx="2057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RiskAssessment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38528" y="4187952"/>
            <a:ext cx="1938528" cy="1188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22B3A"/>
                </a:solidFill>
                <a:latin typeface="Aptos"/>
              </a:rPr>
              <a:t>id: Long
businessId: Long
score / findings
createdAt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00600" y="3749039"/>
            <a:ext cx="2148840" cy="1691640"/>
          </a:xfrm>
          <a:prstGeom prst="rect">
            <a:avLst/>
          </a:prstGeom>
          <a:solidFill>
            <a:srgbClr val="F2F6F8"/>
          </a:solidFill>
          <a:ln>
            <a:solidFill>
              <a:srgbClr val="2C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00600" y="3749039"/>
            <a:ext cx="2148840" cy="365760"/>
          </a:xfrm>
          <a:prstGeom prst="rect">
            <a:avLst/>
          </a:prstGeom>
          <a:solidFill>
            <a:srgbClr val="003B5C"/>
          </a:solidFill>
          <a:ln>
            <a:solidFill>
              <a:srgbClr val="00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3785615"/>
            <a:ext cx="2057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RiskMitigation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0328" y="4187952"/>
            <a:ext cx="1938528" cy="1188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22B3A"/>
                </a:solidFill>
                <a:latin typeface="Aptos"/>
              </a:rPr>
              <a:t>id: Long
assessmentId: Long
mitigationTitle: String
priority / targetDate / status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651760" y="2148840"/>
            <a:ext cx="228600" cy="0"/>
          </a:xfrm>
          <a:prstGeom prst="line">
            <a:avLst/>
          </a:prstGeom>
          <a:ln w="22860">
            <a:solidFill>
              <a:srgbClr val="2C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029200" y="2148840"/>
            <a:ext cx="457200" cy="0"/>
          </a:xfrm>
          <a:prstGeom prst="line">
            <a:avLst/>
          </a:prstGeom>
          <a:ln w="22860">
            <a:solidFill>
              <a:srgbClr val="2C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2926080" y="3017520"/>
            <a:ext cx="960120" cy="731519"/>
          </a:xfrm>
          <a:prstGeom prst="line">
            <a:avLst/>
          </a:prstGeom>
          <a:ln w="22860">
            <a:solidFill>
              <a:srgbClr val="2E7D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5852160" y="3017520"/>
            <a:ext cx="640080" cy="731519"/>
          </a:xfrm>
          <a:prstGeom prst="line">
            <a:avLst/>
          </a:prstGeom>
          <a:ln w="22860">
            <a:solidFill>
              <a:srgbClr val="2E7D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315200" y="1554480"/>
            <a:ext cx="3840480" cy="1828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03B5C"/>
                </a:solidFill>
                <a:latin typeface="Aptos"/>
              </a:rPr>
              <a:t>Associations
• Business owns policies
• Policy has payment history
• Business has risk assessments
• Assessment groups mitigations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023360"/>
            <a:ext cx="3657600" cy="10972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1">
                <a:solidFill>
                  <a:srgbClr val="5C6B73"/>
                </a:solidFill>
                <a:latin typeface="Aptos"/>
              </a:rPr>
              <a:t>Implementation note: field types are illustrative; align exact names and IDs with current DTO/entity definitions.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1088136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003B5C"/>
                </a:solidFill>
                <a:latin typeface="Aptos"/>
              </a:rPr>
              <a:t>UML Sequence — Policy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58952"/>
            <a:ext cx="11201400" cy="22860"/>
          </a:xfrm>
          <a:prstGeom prst="rect">
            <a:avLst/>
          </a:prstGeom>
          <a:solidFill>
            <a:srgbClr val="D9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219456"/>
            <a:ext cx="2103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F26A21"/>
                </a:solidFill>
                <a:latin typeface="Aptos"/>
              </a:rPr>
              <a:t>UML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5C6B73"/>
                </a:solidFill>
                <a:latin typeface="Aptos"/>
              </a:rPr>
              <a:t>RISKTWIN NEXUS  •  INSURANCE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C6B73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43000"/>
            <a:ext cx="1508760" cy="530352"/>
          </a:xfrm>
          <a:prstGeom prst="roundRect">
            <a:avLst/>
          </a:prstGeom>
          <a:solidFill>
            <a:srgbClr val="E8F1F7"/>
          </a:solidFill>
          <a:ln>
            <a:solidFill>
              <a:srgbClr val="2C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>
                <a:solidFill>
                  <a:srgbClr val="003B5C"/>
                </a:solidFill>
                <a:latin typeface="Aptos"/>
              </a:rPr>
              <a:t>Owner / Angular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1673352"/>
            <a:ext cx="13716" cy="3977639"/>
          </a:xfrm>
          <a:prstGeom prst="rect">
            <a:avLst/>
          </a:prstGeom>
          <a:solidFill>
            <a:srgbClr val="D9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0" y="1143000"/>
            <a:ext cx="1508760" cy="530352"/>
          </a:xfrm>
          <a:prstGeom prst="roundRect">
            <a:avLst/>
          </a:prstGeom>
          <a:solidFill>
            <a:srgbClr val="E8F1F7"/>
          </a:solidFill>
          <a:ln>
            <a:solidFill>
              <a:srgbClr val="2C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>
                <a:solidFill>
                  <a:srgbClr val="003B5C"/>
                </a:solidFill>
                <a:latin typeface="Aptos"/>
              </a:rPr>
              <a:t>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673352"/>
            <a:ext cx="13716" cy="3977639"/>
          </a:xfrm>
          <a:prstGeom prst="rect">
            <a:avLst/>
          </a:prstGeom>
          <a:solidFill>
            <a:srgbClr val="D9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92040" y="1143000"/>
            <a:ext cx="1508760" cy="530352"/>
          </a:xfrm>
          <a:prstGeom prst="roundRect">
            <a:avLst/>
          </a:prstGeom>
          <a:solidFill>
            <a:srgbClr val="E8F1F7"/>
          </a:solidFill>
          <a:ln>
            <a:solidFill>
              <a:srgbClr val="2C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>
                <a:solidFill>
                  <a:srgbClr val="003B5C"/>
                </a:solidFill>
                <a:latin typeface="Aptos"/>
              </a:rPr>
              <a:t>Policy Service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3559" y="1673352"/>
            <a:ext cx="13716" cy="3977639"/>
          </a:xfrm>
          <a:prstGeom prst="rect">
            <a:avLst/>
          </a:prstGeom>
          <a:solidFill>
            <a:srgbClr val="D9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86600" y="1143000"/>
            <a:ext cx="1508760" cy="530352"/>
          </a:xfrm>
          <a:prstGeom prst="roundRect">
            <a:avLst/>
          </a:prstGeom>
          <a:solidFill>
            <a:srgbClr val="E8F1F7"/>
          </a:solidFill>
          <a:ln>
            <a:solidFill>
              <a:srgbClr val="2C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>
                <a:solidFill>
                  <a:srgbClr val="003B5C"/>
                </a:solidFill>
                <a:latin typeface="Aptos"/>
              </a:rPr>
              <a:t>Underwriter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1673352"/>
            <a:ext cx="13716" cy="3977639"/>
          </a:xfrm>
          <a:prstGeom prst="rect">
            <a:avLst/>
          </a:prstGeom>
          <a:solidFill>
            <a:srgbClr val="D9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281160" y="1143000"/>
            <a:ext cx="1508760" cy="530352"/>
          </a:xfrm>
          <a:prstGeom prst="roundRect">
            <a:avLst/>
          </a:prstGeom>
          <a:solidFill>
            <a:srgbClr val="E8F1F7"/>
          </a:solidFill>
          <a:ln>
            <a:solidFill>
              <a:srgbClr val="2C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>
                <a:solidFill>
                  <a:srgbClr val="003B5C"/>
                </a:solidFill>
                <a:latin typeface="Aptos"/>
              </a:rPr>
              <a:t>Payment 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12680" y="1673352"/>
            <a:ext cx="13716" cy="3977639"/>
          </a:xfrm>
          <a:prstGeom prst="rect">
            <a:avLst/>
          </a:prstGeom>
          <a:solidFill>
            <a:srgbClr val="D9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2075688" y="1874519"/>
            <a:ext cx="1417320" cy="0"/>
          </a:xfrm>
          <a:prstGeom prst="line">
            <a:avLst/>
          </a:prstGeom>
          <a:ln w="15240">
            <a:solidFill>
              <a:srgbClr val="2C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121408" y="1673351"/>
            <a:ext cx="1325879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122B3A"/>
                </a:solidFill>
                <a:latin typeface="Aptos"/>
              </a:rPr>
              <a:t>GET standard policies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493008" y="2331720"/>
            <a:ext cx="2148840" cy="0"/>
          </a:xfrm>
          <a:prstGeom prst="line">
            <a:avLst/>
          </a:prstGeom>
          <a:ln w="15240">
            <a:solidFill>
              <a:srgbClr val="F26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538727" y="2130551"/>
            <a:ext cx="20574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122B3A"/>
                </a:solidFill>
                <a:latin typeface="Aptos"/>
              </a:rPr>
              <a:t>POST /api/policies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41848" y="2788920"/>
            <a:ext cx="2194560" cy="0"/>
          </a:xfrm>
          <a:prstGeom prst="line">
            <a:avLst/>
          </a:prstGeom>
          <a:ln w="15240">
            <a:solidFill>
              <a:srgbClr val="2C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87568" y="2587751"/>
            <a:ext cx="21031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122B3A"/>
                </a:solidFill>
                <a:latin typeface="Aptos"/>
              </a:rPr>
              <a:t>Submit for review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5641848" y="3246120"/>
            <a:ext cx="2194560" cy="0"/>
          </a:xfrm>
          <a:prstGeom prst="line">
            <a:avLst/>
          </a:prstGeom>
          <a:ln w="15240">
            <a:solidFill>
              <a:srgbClr val="2C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87568" y="3044951"/>
            <a:ext cx="21031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122B3A"/>
                </a:solidFill>
                <a:latin typeface="Aptos"/>
              </a:rPr>
              <a:t>Approve / reject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624327" y="3794760"/>
            <a:ext cx="3017521" cy="0"/>
          </a:xfrm>
          <a:prstGeom prst="line">
            <a:avLst/>
          </a:prstGeom>
          <a:ln w="15240">
            <a:solidFill>
              <a:srgbClr val="2C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670047" y="3593592"/>
            <a:ext cx="2926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122B3A"/>
                </a:solidFill>
                <a:latin typeface="Aptos"/>
              </a:rPr>
              <a:t>Read status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41848" y="4343400"/>
            <a:ext cx="4389120" cy="0"/>
          </a:xfrm>
          <a:prstGeom prst="line">
            <a:avLst/>
          </a:prstGeom>
          <a:ln w="15240">
            <a:solidFill>
              <a:srgbClr val="F26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687568" y="4142232"/>
            <a:ext cx="42976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122B3A"/>
                </a:solidFill>
                <a:latin typeface="Aptos"/>
              </a:rPr>
              <a:t>POST payment (approved/eligible)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5641848" y="4937760"/>
            <a:ext cx="4389120" cy="0"/>
          </a:xfrm>
          <a:prstGeom prst="line">
            <a:avLst/>
          </a:prstGeom>
          <a:ln w="15240">
            <a:solidFill>
              <a:srgbClr val="2C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687568" y="4736592"/>
            <a:ext cx="42976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122B3A"/>
                </a:solidFill>
                <a:latin typeface="Aptos"/>
              </a:rPr>
              <a:t>Mock transaction + reference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852160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B94A48"/>
                </a:solidFill>
                <a:latin typeface="Aptos"/>
              </a:rPr>
              <a:t>Policy activation depends on backend state and successful mock-payment result—not a client-side success message.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1088136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003B5C"/>
                </a:solidFill>
                <a:latin typeface="Aptos"/>
              </a:rPr>
              <a:t>UML Sequence — Risk Assessment &amp; Mitigation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58952"/>
            <a:ext cx="11201400" cy="22860"/>
          </a:xfrm>
          <a:prstGeom prst="rect">
            <a:avLst/>
          </a:prstGeom>
          <a:solidFill>
            <a:srgbClr val="D9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219456"/>
            <a:ext cx="2103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F26A21"/>
                </a:solidFill>
                <a:latin typeface="Aptos"/>
              </a:rPr>
              <a:t>UML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5C6B73"/>
                </a:solidFill>
                <a:latin typeface="Aptos"/>
              </a:rPr>
              <a:t>RISKTWIN NEXUS  •  INSURANCE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C6B73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1417320" cy="530352"/>
          </a:xfrm>
          <a:prstGeom prst="roundRect">
            <a:avLst/>
          </a:prstGeom>
          <a:solidFill>
            <a:srgbClr val="E8F1F7"/>
          </a:solidFill>
          <a:ln>
            <a:solidFill>
              <a:srgbClr val="2C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>
                <a:solidFill>
                  <a:srgbClr val="003B5C"/>
                </a:solidFill>
                <a:latin typeface="Aptos"/>
              </a:rPr>
              <a:t>Risk Engineer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344168" y="1673352"/>
            <a:ext cx="13716" cy="3840480"/>
          </a:xfrm>
          <a:prstGeom prst="rect">
            <a:avLst/>
          </a:prstGeom>
          <a:solidFill>
            <a:srgbClr val="D9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4640" y="1143000"/>
            <a:ext cx="1417320" cy="530352"/>
          </a:xfrm>
          <a:prstGeom prst="roundRect">
            <a:avLst/>
          </a:prstGeom>
          <a:solidFill>
            <a:srgbClr val="E8F1F7"/>
          </a:solidFill>
          <a:ln>
            <a:solidFill>
              <a:srgbClr val="2C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>
                <a:solidFill>
                  <a:srgbClr val="003B5C"/>
                </a:solidFill>
                <a:latin typeface="Aptos"/>
              </a:rPr>
              <a:t>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38728" y="1673352"/>
            <a:ext cx="13716" cy="3840480"/>
          </a:xfrm>
          <a:prstGeom prst="rect">
            <a:avLst/>
          </a:prstGeom>
          <a:solidFill>
            <a:srgbClr val="D9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0" y="1143000"/>
            <a:ext cx="1417320" cy="530352"/>
          </a:xfrm>
          <a:prstGeom prst="roundRect">
            <a:avLst/>
          </a:prstGeom>
          <a:solidFill>
            <a:srgbClr val="E8F1F7"/>
          </a:solidFill>
          <a:ln>
            <a:solidFill>
              <a:srgbClr val="2C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>
                <a:solidFill>
                  <a:srgbClr val="003B5C"/>
                </a:solidFill>
                <a:latin typeface="Aptos"/>
              </a:rPr>
              <a:t>Risk Service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33288" y="1673352"/>
            <a:ext cx="13716" cy="3840480"/>
          </a:xfrm>
          <a:prstGeom prst="rect">
            <a:avLst/>
          </a:prstGeom>
          <a:solidFill>
            <a:srgbClr val="D9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223760" y="1143000"/>
            <a:ext cx="1417320" cy="530352"/>
          </a:xfrm>
          <a:prstGeom prst="roundRect">
            <a:avLst/>
          </a:prstGeom>
          <a:solidFill>
            <a:srgbClr val="E8F1F7"/>
          </a:solidFill>
          <a:ln>
            <a:solidFill>
              <a:srgbClr val="2C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>
                <a:solidFill>
                  <a:srgbClr val="003B5C"/>
                </a:solidFill>
                <a:latin typeface="Aptos"/>
              </a:rPr>
              <a:t>Data Store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7848" y="1673352"/>
            <a:ext cx="13716" cy="3840480"/>
          </a:xfrm>
          <a:prstGeom prst="rect">
            <a:avLst/>
          </a:prstGeom>
          <a:solidFill>
            <a:srgbClr val="D9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464040" y="1143000"/>
            <a:ext cx="1417320" cy="530352"/>
          </a:xfrm>
          <a:prstGeom prst="roundRect">
            <a:avLst/>
          </a:prstGeom>
          <a:solidFill>
            <a:srgbClr val="E8F1F7"/>
          </a:solidFill>
          <a:ln>
            <a:solidFill>
              <a:srgbClr val="2C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>
                <a:solidFill>
                  <a:srgbClr val="003B5C"/>
                </a:solidFill>
                <a:latin typeface="Aptos"/>
              </a:rPr>
              <a:t>Notify/Audit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68128" y="1673352"/>
            <a:ext cx="13716" cy="3840480"/>
          </a:xfrm>
          <a:prstGeom prst="rect">
            <a:avLst/>
          </a:prstGeom>
          <a:solidFill>
            <a:srgbClr val="D9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2048256" y="2011680"/>
            <a:ext cx="1490472" cy="0"/>
          </a:xfrm>
          <a:prstGeom prst="line">
            <a:avLst/>
          </a:prstGeom>
          <a:ln w="15240">
            <a:solidFill>
              <a:srgbClr val="2C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066544" y="1828800"/>
            <a:ext cx="1453895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122B3A"/>
                </a:solidFill>
                <a:latin typeface="Aptos"/>
              </a:rPr>
              <a:t>POST /api/risk/assessments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42816" y="2606040"/>
            <a:ext cx="1490472" cy="0"/>
          </a:xfrm>
          <a:prstGeom prst="line">
            <a:avLst/>
          </a:prstGeom>
          <a:ln w="15240">
            <a:solidFill>
              <a:srgbClr val="2C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61104" y="2423160"/>
            <a:ext cx="1453895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122B3A"/>
                </a:solidFill>
                <a:latin typeface="Aptos"/>
              </a:rPr>
              <a:t>Authenticate + authorize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733288" y="3200400"/>
            <a:ext cx="2194560" cy="0"/>
          </a:xfrm>
          <a:prstGeom prst="line">
            <a:avLst/>
          </a:prstGeom>
          <a:ln w="15240">
            <a:solidFill>
              <a:srgbClr val="2C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751575" y="3017520"/>
            <a:ext cx="2157984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122B3A"/>
                </a:solidFill>
                <a:latin typeface="Aptos"/>
              </a:rPr>
              <a:t>Persist assessment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048256" y="3794760"/>
            <a:ext cx="1490472" cy="0"/>
          </a:xfrm>
          <a:prstGeom prst="line">
            <a:avLst/>
          </a:prstGeom>
          <a:ln w="15240">
            <a:solidFill>
              <a:srgbClr val="2C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066544" y="3611880"/>
            <a:ext cx="1453895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122B3A"/>
                </a:solidFill>
                <a:latin typeface="Aptos"/>
              </a:rPr>
              <a:t>POST /api/risk/mitigations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733288" y="4389120"/>
            <a:ext cx="2194560" cy="0"/>
          </a:xfrm>
          <a:prstGeom prst="line">
            <a:avLst/>
          </a:prstGeom>
          <a:ln w="15240">
            <a:solidFill>
              <a:srgbClr val="2C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751575" y="4206240"/>
            <a:ext cx="2157984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122B3A"/>
                </a:solidFill>
                <a:latin typeface="Aptos"/>
              </a:rPr>
              <a:t>Validate assessment + target date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733288" y="4983480"/>
            <a:ext cx="4434840" cy="0"/>
          </a:xfrm>
          <a:prstGeom prst="line">
            <a:avLst/>
          </a:prstGeom>
          <a:ln w="15240">
            <a:solidFill>
              <a:srgbClr val="2E7D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751575" y="4800600"/>
            <a:ext cx="4398264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122B3A"/>
                </a:solidFill>
                <a:latin typeface="Aptos"/>
              </a:rPr>
              <a:t>Publish event where wired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806440"/>
            <a:ext cx="10789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3B5C"/>
                </a:solidFill>
                <a:latin typeface="Aptos"/>
              </a:rPr>
              <a:t>Mitigation status updates must follow allowed transitions; completed/cancelled states are terminal in the documented workflow.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1088136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003B5C"/>
                </a:solidFill>
                <a:latin typeface="Aptos"/>
              </a:rPr>
              <a:t>User Journey &amp;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58952"/>
            <a:ext cx="11201400" cy="22860"/>
          </a:xfrm>
          <a:prstGeom prst="rect">
            <a:avLst/>
          </a:prstGeom>
          <a:solidFill>
            <a:srgbClr val="D9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219456"/>
            <a:ext cx="2103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F26A21"/>
                </a:solidFill>
                <a:latin typeface="Aptos"/>
              </a:rPr>
              <a:t>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5C6B73"/>
                </a:solidFill>
                <a:latin typeface="Aptos"/>
              </a:rPr>
              <a:t>RISKTWIN NEXUS  •  INSURANCE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C6B73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08760"/>
            <a:ext cx="1353312" cy="566928"/>
          </a:xfrm>
          <a:prstGeom prst="roundRect">
            <a:avLst/>
          </a:prstGeom>
          <a:solidFill>
            <a:srgbClr val="F26A21"/>
          </a:solidFill>
          <a:ln>
            <a:solidFill>
              <a:srgbClr val="F26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2176272"/>
            <a:ext cx="144475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003B5C"/>
                </a:solidFill>
                <a:latin typeface="Aptos"/>
              </a:rPr>
              <a:t>Sign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2578608"/>
            <a:ext cx="1481328" cy="1325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122B3A"/>
                </a:solidFill>
                <a:latin typeface="Aptos"/>
              </a:rPr>
              <a:t>Identity validates credentials and establishes role context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10512" y="1792224"/>
            <a:ext cx="310896" cy="0"/>
          </a:xfrm>
          <a:prstGeom prst="line">
            <a:avLst/>
          </a:prstGeom>
          <a:ln w="19050">
            <a:solidFill>
              <a:srgbClr val="2C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121408" y="1508760"/>
            <a:ext cx="1353312" cy="566928"/>
          </a:xfrm>
          <a:prstGeom prst="roundRect">
            <a:avLst/>
          </a:prstGeom>
          <a:solidFill>
            <a:srgbClr val="F26A21"/>
          </a:solidFill>
          <a:ln>
            <a:solidFill>
              <a:srgbClr val="F26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4832" y="2176272"/>
            <a:ext cx="144475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003B5C"/>
                </a:solidFill>
                <a:latin typeface="Aptos"/>
              </a:rPr>
              <a:t>Business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66544" y="2578608"/>
            <a:ext cx="1481328" cy="1325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122B3A"/>
                </a:solidFill>
                <a:latin typeface="Aptos"/>
              </a:rPr>
              <a:t>Owner creates/updates business information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74720" y="1792224"/>
            <a:ext cx="310896" cy="0"/>
          </a:xfrm>
          <a:prstGeom prst="line">
            <a:avLst/>
          </a:prstGeom>
          <a:ln w="19050">
            <a:solidFill>
              <a:srgbClr val="2C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785616" y="1508760"/>
            <a:ext cx="1353312" cy="566928"/>
          </a:xfrm>
          <a:prstGeom prst="roundRect">
            <a:avLst/>
          </a:prstGeom>
          <a:solidFill>
            <a:srgbClr val="F26A21"/>
          </a:solidFill>
          <a:ln>
            <a:solidFill>
              <a:srgbClr val="F26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2176272"/>
            <a:ext cx="144475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003B5C"/>
                </a:solidFill>
                <a:latin typeface="Aptos"/>
              </a:rPr>
              <a:t>Policy request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0752" y="2578608"/>
            <a:ext cx="1481328" cy="1325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122B3A"/>
                </a:solidFill>
                <a:latin typeface="Aptos"/>
              </a:rPr>
              <a:t>Select standard policy, set tenure/frequency, submit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38928" y="1792224"/>
            <a:ext cx="310896" cy="0"/>
          </a:xfrm>
          <a:prstGeom prst="line">
            <a:avLst/>
          </a:prstGeom>
          <a:ln w="19050">
            <a:solidFill>
              <a:srgbClr val="2C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449824" y="1508760"/>
            <a:ext cx="1353312" cy="566928"/>
          </a:xfrm>
          <a:prstGeom prst="roundRect">
            <a:avLst/>
          </a:prstGeom>
          <a:solidFill>
            <a:srgbClr val="F26A21"/>
          </a:solidFill>
          <a:ln>
            <a:solidFill>
              <a:srgbClr val="F26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3248" y="2176272"/>
            <a:ext cx="144475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003B5C"/>
                </a:solidFill>
                <a:latin typeface="Aptos"/>
              </a:rPr>
              <a:t>Underwriting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2578608"/>
            <a:ext cx="1481328" cy="1325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122B3A"/>
                </a:solidFill>
                <a:latin typeface="Aptos"/>
              </a:rPr>
              <a:t>Authorized reviewer checks and updates decision/status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03136" y="1792224"/>
            <a:ext cx="310896" cy="0"/>
          </a:xfrm>
          <a:prstGeom prst="line">
            <a:avLst/>
          </a:prstGeom>
          <a:ln w="19050">
            <a:solidFill>
              <a:srgbClr val="2C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114032" y="1508760"/>
            <a:ext cx="1353312" cy="566928"/>
          </a:xfrm>
          <a:prstGeom prst="roundRect">
            <a:avLst/>
          </a:prstGeom>
          <a:solidFill>
            <a:srgbClr val="F26A21"/>
          </a:solidFill>
          <a:ln>
            <a:solidFill>
              <a:srgbClr val="F26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77456" y="2176272"/>
            <a:ext cx="144475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003B5C"/>
                </a:solidFill>
                <a:latin typeface="Aptos"/>
              </a:rPr>
              <a:t>Mock payment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2578608"/>
            <a:ext cx="1481328" cy="1325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122B3A"/>
                </a:solidFill>
                <a:latin typeface="Aptos"/>
              </a:rPr>
              <a:t>Eligible policy payment is simulated and referenced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67344" y="1792224"/>
            <a:ext cx="310896" cy="0"/>
          </a:xfrm>
          <a:prstGeom prst="line">
            <a:avLst/>
          </a:prstGeom>
          <a:ln w="19050">
            <a:solidFill>
              <a:srgbClr val="2C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778240" y="1508760"/>
            <a:ext cx="1353312" cy="566928"/>
          </a:xfrm>
          <a:prstGeom prst="roundRect">
            <a:avLst/>
          </a:prstGeom>
          <a:solidFill>
            <a:srgbClr val="F26A21"/>
          </a:solidFill>
          <a:ln>
            <a:solidFill>
              <a:srgbClr val="F26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41664" y="2176272"/>
            <a:ext cx="144475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003B5C"/>
                </a:solidFill>
                <a:latin typeface="Aptos"/>
              </a:rPr>
              <a:t>Risk oversight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23376" y="2578608"/>
            <a:ext cx="1481328" cy="1325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122B3A"/>
                </a:solidFill>
                <a:latin typeface="Aptos"/>
              </a:rPr>
              <a:t>Assessments and mitigations are tracked by permitted roles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131552" y="1792224"/>
            <a:ext cx="310896" cy="0"/>
          </a:xfrm>
          <a:prstGeom prst="line">
            <a:avLst/>
          </a:prstGeom>
          <a:ln w="19050">
            <a:solidFill>
              <a:srgbClr val="2C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442448" y="1508760"/>
            <a:ext cx="1353312" cy="566928"/>
          </a:xfrm>
          <a:prstGeom prst="roundRect">
            <a:avLst/>
          </a:prstGeom>
          <a:solidFill>
            <a:srgbClr val="F26A21"/>
          </a:solidFill>
          <a:ln>
            <a:solidFill>
              <a:srgbClr val="F26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05872" y="2176272"/>
            <a:ext cx="144475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003B5C"/>
                </a:solidFill>
                <a:latin typeface="Aptos"/>
              </a:rPr>
              <a:t>Claims / admin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87584" y="2578608"/>
            <a:ext cx="1481328" cy="1325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122B3A"/>
                </a:solidFill>
                <a:latin typeface="Aptos"/>
              </a:rPr>
              <a:t>Claims workflow and admin metrics available by role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4572000"/>
            <a:ext cx="5166360" cy="100584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5800" y="4572000"/>
            <a:ext cx="73152" cy="100584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" y="4681728"/>
            <a:ext cx="491032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03B5C"/>
                </a:solidFill>
                <a:latin typeface="Aptos"/>
              </a:rPr>
              <a:t>Control checkpoints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" y="5065776"/>
            <a:ext cx="489204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22B3A"/>
                </a:solidFill>
                <a:latin typeface="Aptos"/>
              </a:rPr>
              <a:t>Ownership, role authorization, valid state transitions and DTO validation are checked server-side.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640" y="4572000"/>
            <a:ext cx="5166360" cy="100584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63640" y="4572000"/>
            <a:ext cx="73152" cy="1005840"/>
          </a:xfrm>
          <a:prstGeom prst="rect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8231" y="4681728"/>
            <a:ext cx="491032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03B5C"/>
                </a:solidFill>
                <a:latin typeface="Aptos"/>
              </a:rPr>
              <a:t>Outcome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28231" y="5065776"/>
            <a:ext cx="489204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22B3A"/>
                </a:solidFill>
                <a:latin typeface="Aptos"/>
              </a:rPr>
              <a:t>A traceable workflow with policy/payment records, risk actions and audit context.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1088136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003B5C"/>
                </a:solidFill>
                <a:latin typeface="Aptos"/>
              </a:rPr>
              <a:t>Functional Requirements &amp; Business Rules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58952"/>
            <a:ext cx="11201400" cy="22860"/>
          </a:xfrm>
          <a:prstGeom prst="rect">
            <a:avLst/>
          </a:prstGeom>
          <a:solidFill>
            <a:srgbClr val="D9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219456"/>
            <a:ext cx="2103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F26A21"/>
                </a:solidFill>
                <a:latin typeface="Aptos"/>
              </a:rPr>
              <a:t>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5C6B73"/>
                </a:solidFill>
                <a:latin typeface="Aptos"/>
              </a:rPr>
              <a:t>RISKTWIN NEXUS  •  INSURANCE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C6B73"/>
                </a:solidFill>
                <a:latin typeface="Apto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51560"/>
            <a:ext cx="10789920" cy="5166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22B3A"/>
                </a:solidFill>
                <a:latin typeface="Aptos"/>
              </a:defRPr>
            </a:pPr>
            <a:r>
              <a:t>•  Business Owners can manage their own business profile; cross-owner access is prohibited.</a:t>
            </a:r>
          </a:p>
          <a:p>
            <a:pPr>
              <a:spcAft>
                <a:spcPts val="800"/>
              </a:spcAft>
              <a:defRPr sz="1500">
                <a:solidFill>
                  <a:srgbClr val="122B3A"/>
                </a:solidFill>
                <a:latin typeface="Aptos"/>
              </a:defRPr>
            </a:pPr>
            <a:r>
              <a:t>•  Policies support tenureValue + tenureUnit (MONTHS / YEARS) and paymentFrequency (MONTHLY / YEARLY).</a:t>
            </a:r>
          </a:p>
          <a:p>
            <a:pPr>
              <a:spcAft>
                <a:spcPts val="800"/>
              </a:spcAft>
              <a:defRPr sz="1500">
                <a:solidFill>
                  <a:srgbClr val="122B3A"/>
                </a:solidFill>
                <a:latin typeface="Aptos"/>
              </a:defRPr>
            </a:pPr>
            <a:r>
              <a:t>•  Backend calculates endDate from startDate and the selected tenure.</a:t>
            </a:r>
          </a:p>
          <a:p>
            <a:pPr>
              <a:spcAft>
                <a:spcPts val="800"/>
              </a:spcAft>
              <a:defRPr sz="1500">
                <a:solidFill>
                  <a:srgbClr val="122B3A"/>
                </a:solidFill>
                <a:latin typeface="Aptos"/>
              </a:defRPr>
            </a:pPr>
            <a:r>
              <a:t>•  Mock payment records a transactionReference; no real payment provider is called.</a:t>
            </a:r>
          </a:p>
          <a:p>
            <a:pPr>
              <a:spcAft>
                <a:spcPts val="800"/>
              </a:spcAft>
              <a:defRPr sz="1500">
                <a:solidFill>
                  <a:srgbClr val="122B3A"/>
                </a:solidFill>
                <a:latin typeface="Aptos"/>
              </a:defRPr>
            </a:pPr>
            <a:r>
              <a:t>•  Risk assessments are business-scoped; mitigation must reference an existing assessment.</a:t>
            </a:r>
          </a:p>
          <a:p>
            <a:pPr>
              <a:spcAft>
                <a:spcPts val="800"/>
              </a:spcAft>
              <a:defRPr sz="1500">
                <a:solidFill>
                  <a:srgbClr val="122B3A"/>
                </a:solidFill>
                <a:latin typeface="Aptos"/>
              </a:defRPr>
            </a:pPr>
            <a:r>
              <a:t>•  Mitigation priority: LOW, MEDIUM, HIGH or CRITICAL; targetDate cannot be in the past.</a:t>
            </a:r>
          </a:p>
          <a:p>
            <a:pPr>
              <a:spcAft>
                <a:spcPts val="800"/>
              </a:spcAft>
              <a:defRPr sz="1500">
                <a:solidFill>
                  <a:srgbClr val="122B3A"/>
                </a:solidFill>
                <a:latin typeface="Aptos"/>
              </a:defRPr>
            </a:pPr>
            <a:r>
              <a:t>•  Mitigation status changes must follow valid transitions; terminal states cannot be edited.</a:t>
            </a:r>
          </a:p>
          <a:p>
            <a:pPr>
              <a:spcAft>
                <a:spcPts val="800"/>
              </a:spcAft>
              <a:defRPr sz="1500">
                <a:solidFill>
                  <a:srgbClr val="122B3A"/>
                </a:solidFill>
                <a:latin typeface="Aptos"/>
              </a:defRPr>
            </a:pPr>
            <a:r>
              <a:t>•  Admin analytics must distinguish premium totals from collected payments and avoid unsupported profit proxies.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1088136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003B5C"/>
                </a:solidFill>
                <a:latin typeface="Aptos"/>
              </a:rPr>
              <a:t>API Documentation — Key Contracts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58952"/>
            <a:ext cx="11201400" cy="22860"/>
          </a:xfrm>
          <a:prstGeom prst="rect">
            <a:avLst/>
          </a:prstGeom>
          <a:solidFill>
            <a:srgbClr val="D9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219456"/>
            <a:ext cx="2103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F26A21"/>
                </a:solidFill>
                <a:latin typeface="Aptos"/>
              </a:rPr>
              <a:t>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5C6B73"/>
                </a:solidFill>
                <a:latin typeface="Aptos"/>
              </a:rPr>
              <a:t>RISKTWIN NEXUS  •  INSURANCE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C6B73"/>
                </a:solidFill>
                <a:latin typeface="Aptos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960120"/>
            <a:ext cx="109728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5C6B73"/>
                </a:solidFill>
                <a:latin typeface="Aptos"/>
              </a:rPr>
              <a:t>Base URL:  http://localhost:8080/api  |  JSON by default; multipart/form-data for file uploads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89888"/>
            <a:ext cx="11887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26A21"/>
                </a:solidFill>
                <a:latin typeface="Aptos"/>
              </a:rPr>
              <a:t>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389888"/>
            <a:ext cx="45720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26A21"/>
                </a:solidFill>
                <a:latin typeface="Aptos"/>
              </a:rPr>
              <a:t>ENDPOINT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389888"/>
            <a:ext cx="45720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26A21"/>
                </a:solidFill>
                <a:latin typeface="Aptos"/>
              </a:rPr>
              <a:t>PURPOSE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709928"/>
            <a:ext cx="10972800" cy="38404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737360"/>
            <a:ext cx="11430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03B5C"/>
                </a:solidFill>
                <a:latin typeface="Aptos"/>
              </a:rPr>
              <a:t>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1737360"/>
            <a:ext cx="44805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22B3A"/>
                </a:solidFill>
                <a:latin typeface="Aptos"/>
              </a:rPr>
              <a:t>/policies/standard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737360"/>
            <a:ext cx="47548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22B3A"/>
                </a:solidFill>
                <a:latin typeface="Aptos"/>
              </a:rPr>
              <a:t>List standard policy catalogue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148840"/>
            <a:ext cx="11430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03B5C"/>
                </a:solidFill>
                <a:latin typeface="Aptos"/>
              </a:rPr>
              <a:t>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148840"/>
            <a:ext cx="44805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22B3A"/>
                </a:solidFill>
                <a:latin typeface="Aptos"/>
              </a:rPr>
              <a:t>/policies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48840"/>
            <a:ext cx="47548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22B3A"/>
                </a:solidFill>
                <a:latin typeface="Aptos"/>
              </a:rPr>
              <a:t>Create policy draft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532888"/>
            <a:ext cx="10972800" cy="38404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560320"/>
            <a:ext cx="11430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03B5C"/>
                </a:solidFill>
                <a:latin typeface="Aptos"/>
              </a:rPr>
              <a:t>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2560320"/>
            <a:ext cx="44805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22B3A"/>
                </a:solidFill>
                <a:latin typeface="Aptos"/>
              </a:rPr>
              <a:t>/policies/{policyId}/submit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560320"/>
            <a:ext cx="47548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22B3A"/>
                </a:solidFill>
                <a:latin typeface="Aptos"/>
              </a:rPr>
              <a:t>Submit policy for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971800"/>
            <a:ext cx="11430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03B5C"/>
                </a:solidFill>
                <a:latin typeface="Aptos"/>
              </a:rPr>
              <a:t>POST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2971800"/>
            <a:ext cx="44805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22B3A"/>
                </a:solidFill>
                <a:latin typeface="Aptos"/>
              </a:rPr>
              <a:t>/payments/policies/{policyId}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971800"/>
            <a:ext cx="47548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22B3A"/>
                </a:solidFill>
                <a:latin typeface="Aptos"/>
              </a:rPr>
              <a:t>Record mock payment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355848"/>
            <a:ext cx="10972800" cy="38404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383280"/>
            <a:ext cx="11430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03B5C"/>
                </a:solidFill>
                <a:latin typeface="Aptos"/>
              </a:rPr>
              <a:t>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3383280"/>
            <a:ext cx="44805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22B3A"/>
                </a:solidFill>
                <a:latin typeface="Aptos"/>
              </a:rPr>
              <a:t>/payments/policies/{policyId}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383280"/>
            <a:ext cx="47548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22B3A"/>
                </a:solidFill>
                <a:latin typeface="Aptos"/>
              </a:rPr>
              <a:t>Read payment history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3794760"/>
            <a:ext cx="11430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03B5C"/>
                </a:solidFill>
                <a:latin typeface="Aptos"/>
              </a:rPr>
              <a:t>GET / POST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794760"/>
            <a:ext cx="44805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22B3A"/>
                </a:solidFill>
                <a:latin typeface="Aptos"/>
              </a:rPr>
              <a:t>/risk/assessments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794760"/>
            <a:ext cx="47548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22B3A"/>
                </a:solidFill>
                <a:latin typeface="Aptos"/>
              </a:rPr>
              <a:t>List / create risk assessments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178807"/>
            <a:ext cx="10972800" cy="38404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206240"/>
            <a:ext cx="11430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03B5C"/>
                </a:solidFill>
                <a:latin typeface="Aptos"/>
              </a:rPr>
              <a:t>GET / POST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4206240"/>
            <a:ext cx="44805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22B3A"/>
                </a:solidFill>
                <a:latin typeface="Aptos"/>
              </a:rPr>
              <a:t>/risk/simulations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206240"/>
            <a:ext cx="47548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22B3A"/>
                </a:solidFill>
                <a:latin typeface="Aptos"/>
              </a:rPr>
              <a:t>List / create risk simulations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617720"/>
            <a:ext cx="11430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03B5C"/>
                </a:solidFill>
                <a:latin typeface="Aptos"/>
              </a:rPr>
              <a:t>GET / POST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4617720"/>
            <a:ext cx="44805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22B3A"/>
                </a:solidFill>
                <a:latin typeface="Aptos"/>
              </a:rPr>
              <a:t>/risk/mitigations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617720"/>
            <a:ext cx="47548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22B3A"/>
                </a:solidFill>
                <a:latin typeface="Aptos"/>
              </a:rPr>
              <a:t>List / create mitigations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5001768"/>
            <a:ext cx="10972800" cy="384048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029200"/>
            <a:ext cx="11430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03B5C"/>
                </a:solidFill>
                <a:latin typeface="Aptos"/>
              </a:rPr>
              <a:t>PATCH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5029200"/>
            <a:ext cx="44805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22B3A"/>
                </a:solidFill>
                <a:latin typeface="Aptos"/>
              </a:rPr>
              <a:t>/risk/mitigations/{id}/status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029200"/>
            <a:ext cx="47548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22B3A"/>
                </a:solidFill>
                <a:latin typeface="Aptos"/>
              </a:rPr>
              <a:t>Update mitigation status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5440679"/>
            <a:ext cx="11430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03B5C"/>
                </a:solidFill>
                <a:latin typeface="Aptos"/>
              </a:rPr>
              <a:t>GET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20240" y="5440679"/>
            <a:ext cx="44805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22B3A"/>
                </a:solidFill>
                <a:latin typeface="Aptos"/>
              </a:rPr>
              <a:t>/admin/analytics/dashboard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5440679"/>
            <a:ext cx="47548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22B3A"/>
                </a:solidFill>
                <a:latin typeface="Aptos"/>
              </a:rPr>
              <a:t>Admin dashboard aggregation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5989320"/>
            <a:ext cx="10698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B94A48"/>
                </a:solidFill>
                <a:latin typeface="Aptos"/>
              </a:rPr>
              <a:t>Verify cancellation, notification-read, audit-search, business deletion and exact Gateway mappings against current controllers before claiming them as confirmed.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1088136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003B5C"/>
                </a:solidFill>
                <a:latin typeface="Aptos"/>
              </a:rPr>
              <a:t>API Contracts, DTOs &amp; Exception Handling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58952"/>
            <a:ext cx="11201400" cy="22860"/>
          </a:xfrm>
          <a:prstGeom prst="rect">
            <a:avLst/>
          </a:prstGeom>
          <a:solidFill>
            <a:srgbClr val="D9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219456"/>
            <a:ext cx="2103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F26A21"/>
                </a:solidFill>
                <a:latin typeface="Aptos"/>
              </a:rPr>
              <a:t>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5C6B73"/>
                </a:solidFill>
                <a:latin typeface="Aptos"/>
              </a:rPr>
              <a:t>RISKTWIN NEXUS  •  INSURANCE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C6B73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43000"/>
            <a:ext cx="3520440" cy="141732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143000"/>
            <a:ext cx="73152" cy="1417320"/>
          </a:xfrm>
          <a:prstGeom prst="rect">
            <a:avLst/>
          </a:prstGeom>
          <a:solidFill>
            <a:srgbClr val="2C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252728"/>
            <a:ext cx="326440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3B5C"/>
                </a:solidFill>
                <a:latin typeface="Aptos"/>
              </a:rPr>
              <a:t>Request contracts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636776"/>
            <a:ext cx="3246120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22B3A"/>
                </a:solidFill>
                <a:latin typeface="Aptos"/>
              </a:rPr>
              <a:t>Typed DTOs separate transport payloads from persistence entities. Validate required fields and allowed enum values.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143000"/>
            <a:ext cx="3520440" cy="141732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143000"/>
            <a:ext cx="73152" cy="141732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252728"/>
            <a:ext cx="326440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3B5C"/>
                </a:solidFill>
                <a:latin typeface="Aptos"/>
              </a:rPr>
              <a:t>Consistent errors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636776"/>
            <a:ext cx="3246120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22B3A"/>
                </a:solidFill>
                <a:latin typeface="Aptos"/>
              </a:rPr>
              <a:t>Shared error envelope: timestamp, status, code, message, fieldErrors, correlationId and path.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143000"/>
            <a:ext cx="3520440" cy="141732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143000"/>
            <a:ext cx="73152" cy="1417320"/>
          </a:xfrm>
          <a:prstGeom prst="rect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252728"/>
            <a:ext cx="326440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3B5C"/>
                </a:solidFill>
                <a:latin typeface="Aptos"/>
              </a:rPr>
              <a:t>Data integrity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1636776"/>
            <a:ext cx="3246120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22B3A"/>
                </a:solidFill>
                <a:latin typeface="Aptos"/>
              </a:rPr>
              <a:t>ISO-8601 timestamps; pagination parameters; idempotency keys for critical write operations where configured.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063240"/>
            <a:ext cx="1069848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3B5C"/>
                </a:solidFill>
                <a:latin typeface="Aptos"/>
              </a:rPr>
              <a:t>Example mitigation request fields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520440"/>
            <a:ext cx="6400800" cy="1828800"/>
          </a:xfrm>
          <a:prstGeom prst="roundRect">
            <a:avLst/>
          </a:prstGeom>
          <a:solidFill>
            <a:srgbClr val="F6F8FA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703320"/>
            <a:ext cx="5943600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22B3A"/>
                </a:solidFill>
                <a:latin typeface="Aptos"/>
              </a:rPr>
              <a:t>assessmentId • mitigationTitle • description
priority • assignedTo • targetDate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3520440"/>
            <a:ext cx="3657600" cy="1737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22B3A"/>
                </a:solidFill>
                <a:latin typeface="Aptos"/>
              </a:rPr>
              <a:t>Server-side checks:
• Assessment exists
• targetDate is not in the past
• Priority is allowed
• Caller has required role
• State transition is valid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06440"/>
            <a:ext cx="10789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B94A48"/>
                </a:solidFill>
                <a:latin typeface="Aptos"/>
              </a:rPr>
              <a:t>Do not trust UI validation alone; malformed input and invalid state transitions must fail safely.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1088136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003B5C"/>
                </a:solidFill>
                <a:latin typeface="Aptos"/>
              </a:rPr>
              <a:t>Security — JWT &amp; Spring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58952"/>
            <a:ext cx="11201400" cy="22860"/>
          </a:xfrm>
          <a:prstGeom prst="rect">
            <a:avLst/>
          </a:prstGeom>
          <a:solidFill>
            <a:srgbClr val="D9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219456"/>
            <a:ext cx="2103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F26A21"/>
                </a:solidFill>
                <a:latin typeface="Aptos"/>
              </a:rP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5C6B73"/>
                </a:solidFill>
                <a:latin typeface="Aptos"/>
              </a:rPr>
              <a:t>RISKTWIN NEXUS  •  INSURANCE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C6B73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2514600" cy="160020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73152" cy="1600200"/>
          </a:xfrm>
          <a:prstGeom prst="rect">
            <a:avLst/>
          </a:prstGeom>
          <a:solidFill>
            <a:srgbClr val="2C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618488"/>
            <a:ext cx="225856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3B5C"/>
                </a:solidFill>
                <a:latin typeface="Aptos"/>
              </a:rPr>
              <a:t>1. Authenticate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002536"/>
            <a:ext cx="2240280" cy="10515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22B3A"/>
                </a:solidFill>
                <a:latin typeface="Aptos"/>
              </a:rPr>
              <a:t>Identity service validates credentials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54680" y="2286000"/>
            <a:ext cx="338328" cy="0"/>
          </a:xfrm>
          <a:prstGeom prst="line">
            <a:avLst/>
          </a:prstGeom>
          <a:ln w="22860">
            <a:solidFill>
              <a:srgbClr val="2C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93008" y="1508760"/>
            <a:ext cx="2514600" cy="160020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93008" y="1508760"/>
            <a:ext cx="73152" cy="160020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1618488"/>
            <a:ext cx="225856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3B5C"/>
                </a:solidFill>
                <a:latin typeface="Aptos"/>
              </a:rPr>
              <a:t>2. Issue token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002536"/>
            <a:ext cx="2240280" cy="10515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22B3A"/>
                </a:solidFill>
                <a:latin typeface="Aptos"/>
              </a:rPr>
              <a:t>JWT carries identity and role claims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07608" y="2286000"/>
            <a:ext cx="338328" cy="0"/>
          </a:xfrm>
          <a:prstGeom prst="line">
            <a:avLst/>
          </a:prstGeom>
          <a:ln w="22860">
            <a:solidFill>
              <a:srgbClr val="2C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45936" y="1508760"/>
            <a:ext cx="2514600" cy="160020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5936" y="1508760"/>
            <a:ext cx="73152" cy="1600200"/>
          </a:xfrm>
          <a:prstGeom prst="rect">
            <a:avLst/>
          </a:prstGeom>
          <a:solidFill>
            <a:srgbClr val="2C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1618488"/>
            <a:ext cx="225856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3B5C"/>
                </a:solidFill>
                <a:latin typeface="Aptos"/>
              </a:rPr>
              <a:t>3. Gateway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2002536"/>
            <a:ext cx="2240280" cy="10515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22B3A"/>
                </a:solidFill>
                <a:latin typeface="Aptos"/>
              </a:rPr>
              <a:t>Gateway validates token before routing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60536" y="2286000"/>
            <a:ext cx="338328" cy="0"/>
          </a:xfrm>
          <a:prstGeom prst="line">
            <a:avLst/>
          </a:prstGeom>
          <a:ln w="22860">
            <a:solidFill>
              <a:srgbClr val="2C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98863" y="1508760"/>
            <a:ext cx="2514600" cy="160020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98863" y="1508760"/>
            <a:ext cx="73152" cy="1600200"/>
          </a:xfrm>
          <a:prstGeom prst="rect">
            <a:avLst/>
          </a:prstGeom>
          <a:solidFill>
            <a:srgbClr val="2C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63455" y="1618488"/>
            <a:ext cx="225856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3B5C"/>
                </a:solidFill>
                <a:latin typeface="Aptos"/>
              </a:rPr>
              <a:t>4. Service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63455" y="2002536"/>
            <a:ext cx="2240280" cy="10515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22B3A"/>
                </a:solidFill>
                <a:latin typeface="Aptos"/>
              </a:rPr>
              <a:t>WebFlux security and ownership rules protect resources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886200"/>
            <a:ext cx="51206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3B5C"/>
                </a:solidFill>
                <a:latin typeface="Aptos"/>
              </a:rPr>
              <a:t>JWT security principles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297680"/>
            <a:ext cx="5120640" cy="1508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22B3A"/>
                </a:solidFill>
                <a:latin typeface="Aptos"/>
              </a:defRPr>
            </a:pPr>
            <a:r>
              <a:t>•  Authenticate once; authorize each request.</a:t>
            </a:r>
          </a:p>
          <a:p>
            <a:pPr>
              <a:spcAft>
                <a:spcPts val="500"/>
              </a:spcAft>
              <a:defRPr sz="1200">
                <a:solidFill>
                  <a:srgbClr val="122B3A"/>
                </a:solidFill>
                <a:latin typeface="Aptos"/>
              </a:defRPr>
            </a:pPr>
            <a:r>
              <a:t>•  Derive role from trusted authentication context.</a:t>
            </a:r>
          </a:p>
          <a:p>
            <a:pPr>
              <a:spcAft>
                <a:spcPts val="500"/>
              </a:spcAft>
              <a:defRPr sz="1200">
                <a:solidFill>
                  <a:srgbClr val="122B3A"/>
                </a:solidFill>
                <a:latin typeface="Aptos"/>
              </a:defRPr>
            </a:pPr>
            <a:r>
              <a:t>•  Return 401 for unauthenticated and 403 for forbidden requests.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886200"/>
            <a:ext cx="48463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26A21"/>
                </a:solidFill>
                <a:latin typeface="Aptos"/>
              </a:rPr>
              <a:t>Implementation accuracy note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315968"/>
            <a:ext cx="4846320" cy="1325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22B3A"/>
                </a:solidFill>
                <a:latin typeface="Aptos"/>
              </a:rPr>
              <a:t>The project documents JWT at the Gateway and service-level authorization. Do not claim HttpOnly-cookie behavior unless confirmed in the current auth code/configuration.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1088136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003B5C"/>
                </a:solidFill>
                <a:latin typeface="Aptos"/>
              </a:rPr>
              <a:t>Role-Based Access Control (RBAC)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58952"/>
            <a:ext cx="11201400" cy="22860"/>
          </a:xfrm>
          <a:prstGeom prst="rect">
            <a:avLst/>
          </a:prstGeom>
          <a:solidFill>
            <a:srgbClr val="D9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219456"/>
            <a:ext cx="2103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F26A21"/>
                </a:solidFill>
                <a:latin typeface="Aptos"/>
              </a:rP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5C6B73"/>
                </a:solidFill>
                <a:latin typeface="Aptos"/>
              </a:rPr>
              <a:t>RISKTWIN NEXUS  •  INSURANCE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C6B73"/>
                </a:solidFill>
                <a:latin typeface="Apto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2240280" cy="502920"/>
          </a:xfrm>
          <a:prstGeom prst="roundRect">
            <a:avLst/>
          </a:prstGeom>
          <a:solidFill>
            <a:srgbClr val="003B5C"/>
          </a:solidFill>
          <a:ln>
            <a:solidFill>
              <a:srgbClr val="00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Capability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417320"/>
            <a:ext cx="1783080" cy="502920"/>
          </a:xfrm>
          <a:prstGeom prst="roundRect">
            <a:avLst/>
          </a:prstGeom>
          <a:solidFill>
            <a:srgbClr val="003B5C"/>
          </a:solidFill>
          <a:ln>
            <a:solidFill>
              <a:srgbClr val="00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BUSINESS_OWNER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417320"/>
            <a:ext cx="1645920" cy="502920"/>
          </a:xfrm>
          <a:prstGeom prst="roundRect">
            <a:avLst/>
          </a:prstGeom>
          <a:solidFill>
            <a:srgbClr val="003B5C"/>
          </a:solidFill>
          <a:ln>
            <a:solidFill>
              <a:srgbClr val="00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UNDERWRITER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417320"/>
            <a:ext cx="1645920" cy="502920"/>
          </a:xfrm>
          <a:prstGeom prst="roundRect">
            <a:avLst/>
          </a:prstGeom>
          <a:solidFill>
            <a:srgbClr val="003B5C"/>
          </a:solidFill>
          <a:ln>
            <a:solidFill>
              <a:srgbClr val="00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RISK_ENGINEER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1645920" cy="502920"/>
          </a:xfrm>
          <a:prstGeom prst="roundRect">
            <a:avLst/>
          </a:prstGeom>
          <a:solidFill>
            <a:srgbClr val="003B5C"/>
          </a:solidFill>
          <a:ln>
            <a:solidFill>
              <a:srgbClr val="00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CLAIMS_ADJUSTER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29800" y="1417320"/>
            <a:ext cx="1645920" cy="502920"/>
          </a:xfrm>
          <a:prstGeom prst="roundRect">
            <a:avLst/>
          </a:prstGeom>
          <a:solidFill>
            <a:srgbClr val="003B5C"/>
          </a:solidFill>
          <a:ln>
            <a:solidFill>
              <a:srgbClr val="00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011680"/>
            <a:ext cx="2240280" cy="566928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1">
                <a:solidFill>
                  <a:srgbClr val="122B3A"/>
                </a:solidFill>
                <a:latin typeface="Aptos"/>
              </a:rPr>
              <a:t>Business profile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2011680"/>
            <a:ext cx="1783080" cy="566928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0">
                <a:solidFill>
                  <a:srgbClr val="122B3A"/>
                </a:solidFill>
                <a:latin typeface="Aptos"/>
              </a:rPr>
              <a:t>C/R/U 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2011680"/>
            <a:ext cx="1645920" cy="566928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0">
                <a:solidFill>
                  <a:srgbClr val="122B3A"/>
                </a:solidFill>
                <a:latin typeface="Aptos"/>
              </a:rPr>
              <a:t>R / approve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011680"/>
            <a:ext cx="1645920" cy="566928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0">
                <a:solidFill>
                  <a:srgbClr val="122B3A"/>
                </a:solidFill>
                <a:latin typeface="Aptos"/>
              </a:rPr>
              <a:t>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011680"/>
            <a:ext cx="1645920" cy="566928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0">
                <a:solidFill>
                  <a:srgbClr val="122B3A"/>
                </a:solidFill>
                <a:latin typeface="Aptos"/>
              </a:rPr>
              <a:t>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29800" y="2011680"/>
            <a:ext cx="1645920" cy="566928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0">
                <a:solidFill>
                  <a:srgbClr val="122B3A"/>
                </a:solidFill>
                <a:latin typeface="Aptos"/>
              </a:rPr>
              <a:t>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706624"/>
            <a:ext cx="2240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1">
                <a:solidFill>
                  <a:srgbClr val="122B3A"/>
                </a:solidFill>
                <a:latin typeface="Aptos"/>
              </a:rPr>
              <a:t>Policy review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2706624"/>
            <a:ext cx="17830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0">
                <a:solidFill>
                  <a:srgbClr val="122B3A"/>
                </a:solidFill>
                <a:latin typeface="Aptos"/>
              </a:rPr>
              <a:t>Create/submit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2706624"/>
            <a:ext cx="1645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0">
                <a:solidFill>
                  <a:srgbClr val="122B3A"/>
                </a:solidFill>
                <a:latin typeface="Aptos"/>
              </a:rPr>
              <a:t>Review/decide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2706624"/>
            <a:ext cx="1645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0">
                <a:solidFill>
                  <a:srgbClr val="122B3A"/>
                </a:solidFill>
                <a:latin typeface="Aptos"/>
              </a:rPr>
              <a:t>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706624"/>
            <a:ext cx="1645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0">
                <a:solidFill>
                  <a:srgbClr val="122B3A"/>
                </a:solidFill>
                <a:latin typeface="Aptos"/>
              </a:rPr>
              <a:t>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9800" y="2706624"/>
            <a:ext cx="1645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0">
                <a:solidFill>
                  <a:srgbClr val="122B3A"/>
                </a:solidFill>
                <a:latin typeface="Aptos"/>
              </a:rPr>
              <a:t>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401568"/>
            <a:ext cx="2240280" cy="566928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1">
                <a:solidFill>
                  <a:srgbClr val="122B3A"/>
                </a:solidFill>
                <a:latin typeface="Aptos"/>
              </a:rPr>
              <a:t>Risk mitigation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26080" y="3401568"/>
            <a:ext cx="1783080" cy="566928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0">
                <a:solidFill>
                  <a:srgbClr val="122B3A"/>
                </a:solidFill>
                <a:latin typeface="Aptos"/>
              </a:rPr>
              <a:t>R own scope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0" y="3401568"/>
            <a:ext cx="1645920" cy="566928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0">
                <a:solidFill>
                  <a:srgbClr val="122B3A"/>
                </a:solidFill>
                <a:latin typeface="Aptos"/>
              </a:rPr>
              <a:t>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3401568"/>
            <a:ext cx="1645920" cy="566928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0">
                <a:solidFill>
                  <a:srgbClr val="122B3A"/>
                </a:solidFill>
                <a:latin typeface="Aptos"/>
              </a:rPr>
              <a:t>Create/update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3401568"/>
            <a:ext cx="1645920" cy="566928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0">
                <a:solidFill>
                  <a:srgbClr val="122B3A"/>
                </a:solidFill>
                <a:latin typeface="Aptos"/>
              </a:rPr>
              <a:t>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29800" y="3401568"/>
            <a:ext cx="1645920" cy="566928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0">
                <a:solidFill>
                  <a:srgbClr val="122B3A"/>
                </a:solidFill>
                <a:latin typeface="Aptos"/>
              </a:rPr>
              <a:t>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096512"/>
            <a:ext cx="2240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1">
                <a:solidFill>
                  <a:srgbClr val="122B3A"/>
                </a:solidFill>
                <a:latin typeface="Aptos"/>
              </a:rPr>
              <a:t>Claims decision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26080" y="4096512"/>
            <a:ext cx="17830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0">
                <a:solidFill>
                  <a:srgbClr val="122B3A"/>
                </a:solidFill>
                <a:latin typeface="Aptos"/>
              </a:rPr>
              <a:t>Submit own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0" y="4096512"/>
            <a:ext cx="1645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0">
                <a:solidFill>
                  <a:srgbClr val="122B3A"/>
                </a:solidFill>
                <a:latin typeface="Aptos"/>
              </a:rPr>
              <a:t>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46520" y="4096512"/>
            <a:ext cx="1645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0">
                <a:solidFill>
                  <a:srgbClr val="122B3A"/>
                </a:solidFill>
                <a:latin typeface="Aptos"/>
              </a:rPr>
              <a:t>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4096512"/>
            <a:ext cx="1645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0">
                <a:solidFill>
                  <a:srgbClr val="122B3A"/>
                </a:solidFill>
                <a:latin typeface="Aptos"/>
              </a:rPr>
              <a:t>Decide/recover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29800" y="4096512"/>
            <a:ext cx="1645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0">
                <a:solidFill>
                  <a:srgbClr val="122B3A"/>
                </a:solidFill>
                <a:latin typeface="Aptos"/>
              </a:rPr>
              <a:t>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791456"/>
            <a:ext cx="2240280" cy="566928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1">
                <a:solidFill>
                  <a:srgbClr val="122B3A"/>
                </a:solidFill>
                <a:latin typeface="Aptos"/>
              </a:rPr>
              <a:t>Admin analytics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926080" y="4791456"/>
            <a:ext cx="1783080" cy="566928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0">
                <a:solidFill>
                  <a:srgbClr val="122B3A"/>
                </a:solidFill>
                <a:latin typeface="Aptos"/>
              </a:rPr>
              <a:t>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54880" y="4791456"/>
            <a:ext cx="1645920" cy="566928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0">
                <a:solidFill>
                  <a:srgbClr val="122B3A"/>
                </a:solidFill>
                <a:latin typeface="Aptos"/>
              </a:rPr>
              <a:t>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46520" y="4791456"/>
            <a:ext cx="1645920" cy="566928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0">
                <a:solidFill>
                  <a:srgbClr val="122B3A"/>
                </a:solidFill>
                <a:latin typeface="Aptos"/>
              </a:rPr>
              <a:t>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4791456"/>
            <a:ext cx="1645920" cy="566928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0">
                <a:solidFill>
                  <a:srgbClr val="122B3A"/>
                </a:solidFill>
                <a:latin typeface="Aptos"/>
              </a:rPr>
              <a:t>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829800" y="4791456"/>
            <a:ext cx="1645920" cy="566928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00" b="0">
                <a:solidFill>
                  <a:srgbClr val="122B3A"/>
                </a:solidFill>
                <a:latin typeface="Aptos"/>
              </a:rPr>
              <a:t>Full access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806440"/>
            <a:ext cx="106070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3B5C"/>
                </a:solidFill>
                <a:latin typeface="Aptos"/>
              </a:rPr>
              <a:t>RBAC is combined with resource ownership checks. Exact permissions vary by endpoint; the backend is authoritative.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1088136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003B5C"/>
                </a:solidFill>
                <a:latin typeface="Aptos"/>
              </a:rPr>
              <a:t>Technology Stack &amp; Project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58952"/>
            <a:ext cx="11201400" cy="22860"/>
          </a:xfrm>
          <a:prstGeom prst="rect">
            <a:avLst/>
          </a:prstGeom>
          <a:solidFill>
            <a:srgbClr val="D9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219456"/>
            <a:ext cx="2103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F26A21"/>
                </a:solidFill>
                <a:latin typeface="Aptos"/>
              </a:rPr>
              <a:t>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5C6B73"/>
                </a:solidFill>
                <a:latin typeface="Aptos"/>
              </a:rPr>
              <a:t>RISKTWIN NEXUS  •  INSURANCE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C6B73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097280"/>
            <a:ext cx="2331720" cy="59436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097280"/>
            <a:ext cx="73152" cy="594360"/>
          </a:xfrm>
          <a:prstGeom prst="rect">
            <a:avLst/>
          </a:prstGeom>
          <a:solidFill>
            <a:srgbClr val="2C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207007"/>
            <a:ext cx="2075687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03B5C"/>
                </a:solidFill>
                <a:latin typeface="Aptos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207007"/>
            <a:ext cx="78638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22B3A"/>
                </a:solidFill>
                <a:latin typeface="Aptos"/>
              </a:rPr>
              <a:t>Angular • TypeScript • NgRx • route guards/interceptors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847088"/>
            <a:ext cx="2331720" cy="59436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847088"/>
            <a:ext cx="73152" cy="59436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1956816"/>
            <a:ext cx="2075687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03B5C"/>
                </a:solidFill>
                <a:latin typeface="Aptos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1956816"/>
            <a:ext cx="78638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22B3A"/>
                </a:solidFill>
                <a:latin typeface="Aptos"/>
              </a:rPr>
              <a:t>Java • Spring Boot • Spring Cloud • WebFlux reactive APIs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596896"/>
            <a:ext cx="2331720" cy="59436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2596896"/>
            <a:ext cx="73152" cy="594360"/>
          </a:xfrm>
          <a:prstGeom prst="rect">
            <a:avLst/>
          </a:prstGeom>
          <a:solidFill>
            <a:srgbClr val="2C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2706624"/>
            <a:ext cx="2075687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03B5C"/>
                </a:solidFill>
                <a:latin typeface="Aptos"/>
              </a:rPr>
              <a:t>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2706624"/>
            <a:ext cx="78638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22B3A"/>
                </a:solidFill>
                <a:latin typeface="Aptos"/>
              </a:rPr>
              <a:t>Spring Security • JWT • role + ownership checks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346704"/>
            <a:ext cx="2331720" cy="59436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346704"/>
            <a:ext cx="73152" cy="59436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3456432"/>
            <a:ext cx="2075687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03B5C"/>
                </a:solidFill>
                <a:latin typeface="Aptos"/>
              </a:rPr>
              <a:t>Service discovery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3456432"/>
            <a:ext cx="78638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22B3A"/>
                </a:solidFill>
                <a:latin typeface="Aptos"/>
              </a:rPr>
              <a:t>Eureka • API Gateway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096511"/>
            <a:ext cx="2331720" cy="59436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4096511"/>
            <a:ext cx="73152" cy="594360"/>
          </a:xfrm>
          <a:prstGeom prst="rect">
            <a:avLst/>
          </a:prstGeom>
          <a:solidFill>
            <a:srgbClr val="2C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4206240"/>
            <a:ext cx="2075687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03B5C"/>
                </a:solidFill>
                <a:latin typeface="Aptos"/>
              </a:rPr>
              <a:t>Persistence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4206240"/>
            <a:ext cx="78638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22B3A"/>
                </a:solidFill>
                <a:latin typeface="Aptos"/>
              </a:rPr>
              <a:t>R2DBC and service-owned databases (configuration-specific)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846320"/>
            <a:ext cx="2331720" cy="59436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4846320"/>
            <a:ext cx="73152" cy="59436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" y="4956048"/>
            <a:ext cx="2075687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03B5C"/>
                </a:solidFill>
                <a:latin typeface="Aptos"/>
              </a:rPr>
              <a:t>Build &amp; integration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4956048"/>
            <a:ext cx="78638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22B3A"/>
                </a:solidFill>
                <a:latin typeface="Aptos"/>
              </a:rPr>
              <a:t>Maven • REST/JSON • service clients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06440"/>
            <a:ext cx="106984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5C6B73"/>
                </a:solidFill>
                <a:latin typeface="Aptos"/>
              </a:rPr>
              <a:t>Typical repository layout: frontend workspace + independently buildable backend microservice modules.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1088136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003B5C"/>
                </a:solidFill>
                <a:latin typeface="Aptos"/>
              </a:rPr>
              <a:t>Backend &amp; Frontend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58952"/>
            <a:ext cx="11201400" cy="22860"/>
          </a:xfrm>
          <a:prstGeom prst="rect">
            <a:avLst/>
          </a:prstGeom>
          <a:solidFill>
            <a:srgbClr val="D9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219456"/>
            <a:ext cx="2103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F26A21"/>
                </a:solidFill>
                <a:latin typeface="Aptos"/>
              </a:rPr>
              <a:t>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5C6B73"/>
                </a:solidFill>
                <a:latin typeface="Aptos"/>
              </a:rPr>
              <a:t>RISKTWIN NEXUS  •  INSURANCE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C6B73"/>
                </a:solidFill>
                <a:latin typeface="Aptos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5303520" cy="356616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234440"/>
            <a:ext cx="73152" cy="3566160"/>
          </a:xfrm>
          <a:prstGeom prst="rect">
            <a:avLst/>
          </a:prstGeom>
          <a:solidFill>
            <a:srgbClr val="2C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344168"/>
            <a:ext cx="504748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3B5C"/>
                </a:solidFill>
                <a:latin typeface="Aptos"/>
              </a:rPr>
              <a:t>Backend responsibilities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28216"/>
            <a:ext cx="5029200" cy="3017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22B3A"/>
                </a:solidFill>
                <a:latin typeface="Aptos"/>
              </a:rPr>
              <a:t>• REST controllers expose domain APIs
• Service layer enforces business rules
• Repositories persist service-owned data
• Gateway routes and validates requests
• DTOs and exception handlers standardize contracts
• Reactive flows use Mono/Flux where applicable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5303520" cy="356616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73152" cy="356616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344168"/>
            <a:ext cx="504748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3B5C"/>
                </a:solidFill>
                <a:latin typeface="Aptos"/>
              </a:rPr>
              <a:t>Frontend responsibilities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728216"/>
            <a:ext cx="5029200" cy="3017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22B3A"/>
                </a:solidFill>
                <a:latin typeface="Aptos"/>
              </a:rPr>
              <a:t>• Angular pages for business, policy, risk, claims and admin
• Services call APIs through the Gateway
• NgRx manages shared feature state where used
• Route guards and role-aware UI actions
• Forms collect typed request DTOs
• UI reflects backend-confirmed status and errors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257800"/>
            <a:ext cx="105156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B94A48"/>
                </a:solidFill>
                <a:latin typeface="Aptos"/>
              </a:rPr>
              <a:t>Important: hiding a button in Angular is usability—not authorization. The backend must re-check role, ownership and lifecycle state.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1088136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003B5C"/>
                </a:solidFill>
                <a:latin typeface="Aptos"/>
              </a:rPr>
              <a:t>Testing, Code Coverage, Logging &amp; Monitoring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58952"/>
            <a:ext cx="11201400" cy="22860"/>
          </a:xfrm>
          <a:prstGeom prst="rect">
            <a:avLst/>
          </a:prstGeom>
          <a:solidFill>
            <a:srgbClr val="D9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219456"/>
            <a:ext cx="2103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F26A21"/>
                </a:solidFill>
                <a:latin typeface="Aptos"/>
              </a:rPr>
              <a:t>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5C6B73"/>
                </a:solidFill>
                <a:latin typeface="Aptos"/>
              </a:rPr>
              <a:t>RISKTWIN NEXUS  •  INSURANCE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C6B73"/>
                </a:solidFill>
                <a:latin typeface="Aptos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3520440" cy="141732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73152" cy="1417320"/>
          </a:xfrm>
          <a:prstGeom prst="rect">
            <a:avLst/>
          </a:prstGeom>
          <a:solidFill>
            <a:srgbClr val="2C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252728"/>
            <a:ext cx="326440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3B5C"/>
                </a:solidFill>
                <a:latin typeface="Aptos"/>
              </a:rPr>
              <a:t>Unit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636776"/>
            <a:ext cx="3246120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22B3A"/>
                </a:solidFill>
                <a:latin typeface="Aptos"/>
              </a:rPr>
              <a:t>Service logic, validators, role checks and state transitions.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143000"/>
            <a:ext cx="3520440" cy="141732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143000"/>
            <a:ext cx="73152" cy="141732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252728"/>
            <a:ext cx="326440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3B5C"/>
                </a:solidFill>
                <a:latin typeface="Aptos"/>
              </a:rPr>
              <a:t>Integration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636776"/>
            <a:ext cx="3246120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22B3A"/>
                </a:solidFill>
                <a:latin typeface="Aptos"/>
              </a:rPr>
              <a:t>Gateway routes, database behavior and inter-service calls.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143000"/>
            <a:ext cx="3520440" cy="141732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143000"/>
            <a:ext cx="73152" cy="1417320"/>
          </a:xfrm>
          <a:prstGeom prst="rect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1252728"/>
            <a:ext cx="326440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3B5C"/>
                </a:solidFill>
                <a:latin typeface="Aptos"/>
              </a:rPr>
              <a:t>End-to-end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1636776"/>
            <a:ext cx="3246120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22B3A"/>
                </a:solidFill>
                <a:latin typeface="Aptos"/>
              </a:rPr>
              <a:t>Owner journeys, underwriting, mock payment, risk and claims access.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063240"/>
            <a:ext cx="48463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3B5C"/>
                </a:solidFill>
                <a:latin typeface="Aptos"/>
              </a:rPr>
              <a:t>Security negative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474720"/>
            <a:ext cx="5029200" cy="1600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22B3A"/>
                </a:solidFill>
                <a:latin typeface="Aptos"/>
              </a:defRPr>
            </a:pPr>
            <a:r>
              <a:t>•  401 without valid authentication</a:t>
            </a:r>
          </a:p>
          <a:p>
            <a:pPr>
              <a:spcAft>
                <a:spcPts val="500"/>
              </a:spcAft>
              <a:defRPr sz="1200">
                <a:solidFill>
                  <a:srgbClr val="122B3A"/>
                </a:solidFill>
                <a:latin typeface="Aptos"/>
              </a:defRPr>
            </a:pPr>
            <a:r>
              <a:t>•  403 for disallowed roles</a:t>
            </a:r>
          </a:p>
          <a:p>
            <a:pPr>
              <a:spcAft>
                <a:spcPts val="500"/>
              </a:spcAft>
              <a:defRPr sz="1200">
                <a:solidFill>
                  <a:srgbClr val="122B3A"/>
                </a:solidFill>
                <a:latin typeface="Aptos"/>
              </a:defRPr>
            </a:pPr>
            <a:r>
              <a:t>•  Cross-owner business/policy access blocked</a:t>
            </a:r>
          </a:p>
          <a:p>
            <a:pPr>
              <a:spcAft>
                <a:spcPts val="500"/>
              </a:spcAft>
              <a:defRPr sz="1200">
                <a:solidFill>
                  <a:srgbClr val="122B3A"/>
                </a:solidFill>
                <a:latin typeface="Aptos"/>
              </a:defRPr>
            </a:pPr>
            <a:r>
              <a:t>•  Invalid status transitions rejected</a:t>
            </a:r>
          </a:p>
          <a:p>
            <a:pPr>
              <a:spcAft>
                <a:spcPts val="500"/>
              </a:spcAft>
              <a:defRPr sz="1200">
                <a:solidFill>
                  <a:srgbClr val="122B3A"/>
                </a:solidFill>
                <a:latin typeface="Aptos"/>
              </a:defRPr>
            </a:pPr>
            <a:r>
              <a:t>•  Bad DTO fields and past target dates rejected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063240"/>
            <a:ext cx="49377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26A21"/>
                </a:solidFill>
                <a:latin typeface="Aptos"/>
              </a:rPr>
              <a:t>Logging &amp; observability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474720"/>
            <a:ext cx="5029200" cy="1600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22B3A"/>
                </a:solidFill>
                <a:latin typeface="Aptos"/>
              </a:defRPr>
            </a:pPr>
            <a:r>
              <a:t>•  Correlate requests with X-Correlation-ID</a:t>
            </a:r>
          </a:p>
          <a:p>
            <a:pPr>
              <a:spcAft>
                <a:spcPts val="500"/>
              </a:spcAft>
              <a:defRPr sz="1200">
                <a:solidFill>
                  <a:srgbClr val="122B3A"/>
                </a:solidFill>
                <a:latin typeface="Aptos"/>
              </a:defRPr>
            </a:pPr>
            <a:r>
              <a:t>•  Log actor, role, action, entity and timestamp for audit</a:t>
            </a:r>
          </a:p>
          <a:p>
            <a:pPr>
              <a:spcAft>
                <a:spcPts val="500"/>
              </a:spcAft>
              <a:defRPr sz="1200">
                <a:solidFill>
                  <a:srgbClr val="122B3A"/>
                </a:solidFill>
                <a:latin typeface="Aptos"/>
              </a:defRPr>
            </a:pPr>
            <a:r>
              <a:t>•  Expose health/registration status for services</a:t>
            </a:r>
          </a:p>
          <a:p>
            <a:pPr>
              <a:spcAft>
                <a:spcPts val="500"/>
              </a:spcAft>
              <a:defRPr sz="1200">
                <a:solidFill>
                  <a:srgbClr val="122B3A"/>
                </a:solidFill>
                <a:latin typeface="Aptos"/>
              </a:defRPr>
            </a:pPr>
            <a:r>
              <a:t>•  Track error rates and failed downstream calls</a:t>
            </a:r>
          </a:p>
          <a:p>
            <a:pPr>
              <a:spcAft>
                <a:spcPts val="500"/>
              </a:spcAft>
              <a:defRPr sz="1200">
                <a:solidFill>
                  <a:srgbClr val="122B3A"/>
                </a:solidFill>
                <a:latin typeface="Aptos"/>
              </a:defRPr>
            </a:pPr>
            <a:r>
              <a:t>•  Report measured coverage only after test execution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06440"/>
            <a:ext cx="10789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B94A48"/>
                </a:solidFill>
                <a:latin typeface="Aptos"/>
              </a:rPr>
              <a:t>Testing status in the supplied workbook is marked “Not Run” for its RTM test cases; do not claim a coverage percentage without fresh test reports.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1088136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003B5C"/>
                </a:solidFill>
                <a:latin typeface="Aptos"/>
              </a:rPr>
              <a:t>Assumptions, Limitations &amp; 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58952"/>
            <a:ext cx="11201400" cy="22860"/>
          </a:xfrm>
          <a:prstGeom prst="rect">
            <a:avLst/>
          </a:prstGeom>
          <a:solidFill>
            <a:srgbClr val="D9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219456"/>
            <a:ext cx="2103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F26A21"/>
                </a:solidFill>
                <a:latin typeface="Aptos"/>
              </a:rPr>
              <a:t>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5C6B73"/>
                </a:solidFill>
                <a:latin typeface="Aptos"/>
              </a:rPr>
              <a:t>RISKTWIN NEXUS  •  INSURANCE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C6B73"/>
                </a:solidFill>
                <a:latin typeface="Aptos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3520440" cy="182880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73152" cy="1828800"/>
          </a:xfrm>
          <a:prstGeom prst="rect">
            <a:avLst/>
          </a:prstGeom>
          <a:solidFill>
            <a:srgbClr val="2C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252728"/>
            <a:ext cx="326440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3B5C"/>
                </a:solidFill>
                <a:latin typeface="Aptos"/>
              </a:rPr>
              <a:t>Assumptions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636776"/>
            <a:ext cx="3246120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22B3A"/>
                </a:solidFill>
                <a:latin typeface="Aptos"/>
              </a:rPr>
              <a:t>• Service-owned data
• Role-scoped access
• Human underwriting decisions
• Mock payment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143000"/>
            <a:ext cx="3520440" cy="182880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143000"/>
            <a:ext cx="73152" cy="1828800"/>
          </a:xfrm>
          <a:prstGeom prst="rect">
            <a:avLst/>
          </a:prstGeom>
          <a:solidFill>
            <a:srgbClr val="F26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252728"/>
            <a:ext cx="326440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3B5C"/>
                </a:solidFill>
                <a:latin typeface="Aptos"/>
              </a:rPr>
              <a:t>Current limitations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636776"/>
            <a:ext cx="3246120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22B3A"/>
                </a:solidFill>
                <a:latin typeface="Aptos"/>
              </a:rPr>
              <a:t>• No real payment gateway
• Some endpoint mappings need verification
• Analytics depends on available source data
• Test status must be confirmed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143000"/>
            <a:ext cx="3520440" cy="1828800"/>
          </a:xfrm>
          <a:prstGeom prst="roundRect">
            <a:avLst/>
          </a:prstGeom>
          <a:solidFill>
            <a:srgbClr val="F2F6F8"/>
          </a:solidFill>
          <a:ln>
            <a:solidFill>
              <a:srgbClr val="D9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143000"/>
            <a:ext cx="73152" cy="1828800"/>
          </a:xfrm>
          <a:prstGeom prst="rect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1252728"/>
            <a:ext cx="326440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3B5C"/>
                </a:solidFill>
                <a:latin typeface="Aptos"/>
              </a:rPr>
              <a:t>Future enhancements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1636776"/>
            <a:ext cx="3246120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22B3A"/>
                </a:solidFill>
                <a:latin typeface="Aptos"/>
              </a:rPr>
              <a:t>• Automated CI test/coverage reporting
• Stronger observability dashboards
• Verified API contract publishing
• More comprehensive audit/reconciliation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49039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003B5C"/>
                </a:solidFill>
                <a:latin typeface="Aptos"/>
              </a:rPr>
              <a:t>Key takeaway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51960"/>
            <a:ext cx="105156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122B3A"/>
                </a:solidFill>
                <a:latin typeface="Aptos"/>
              </a:rPr>
              <a:t>RiskTwin Nexus is structured around clear service boundaries, explicit role-based access and auditable insurance workflows. The next priority is to verify remaining route mappings and run the complete automated test suite before reporting final coverage.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06440"/>
            <a:ext cx="10515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F26A21"/>
                </a:solidFill>
                <a:latin typeface="Aptos"/>
              </a:rPr>
              <a:t>Thank you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